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10"/>
  </p:notesMasterIdLst>
  <p:handoutMasterIdLst>
    <p:handoutMasterId r:id="rId11"/>
  </p:handoutMasterIdLst>
  <p:sldIdLst>
    <p:sldId id="289" r:id="rId3"/>
    <p:sldId id="288" r:id="rId4"/>
    <p:sldId id="290" r:id="rId5"/>
    <p:sldId id="291" r:id="rId6"/>
    <p:sldId id="292" r:id="rId7"/>
    <p:sldId id="293" r:id="rId8"/>
    <p:sldId id="294" r:id="rId9"/>
  </p:sldIdLst>
  <p:sldSz cx="9144000" cy="6858000" type="screen4x3"/>
  <p:notesSz cx="6881813" cy="100155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5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38" autoAdjust="0"/>
    <p:restoredTop sz="94584" autoAdjust="0"/>
  </p:normalViewPr>
  <p:slideViewPr>
    <p:cSldViewPr>
      <p:cViewPr varScale="1">
        <p:scale>
          <a:sx n="68" d="100"/>
          <a:sy n="68" d="100"/>
        </p:scale>
        <p:origin x="140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1834" y="-89"/>
      </p:cViewPr>
      <p:guideLst>
        <p:guide orient="horz" pos="3155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o Luis de Aguiar" userId="5f462f2d5db86de8" providerId="LiveId" clId="{051BB721-46AD-48AC-AF73-0A18B443541D}"/>
    <pc:docChg chg="modSld">
      <pc:chgData name="Sandro Luis de Aguiar" userId="5f462f2d5db86de8" providerId="LiveId" clId="{051BB721-46AD-48AC-AF73-0A18B443541D}" dt="2021-05-26T11:20:22.745" v="7" actId="20577"/>
      <pc:docMkLst>
        <pc:docMk/>
      </pc:docMkLst>
      <pc:sldChg chg="modSp mod">
        <pc:chgData name="Sandro Luis de Aguiar" userId="5f462f2d5db86de8" providerId="LiveId" clId="{051BB721-46AD-48AC-AF73-0A18B443541D}" dt="2021-05-26T11:11:09.003" v="6" actId="14100"/>
        <pc:sldMkLst>
          <pc:docMk/>
          <pc:sldMk cId="0" sldId="289"/>
        </pc:sldMkLst>
        <pc:picChg chg="mod">
          <ac:chgData name="Sandro Luis de Aguiar" userId="5f462f2d5db86de8" providerId="LiveId" clId="{051BB721-46AD-48AC-AF73-0A18B443541D}" dt="2021-05-26T11:11:09.003" v="6" actId="14100"/>
          <ac:picMkLst>
            <pc:docMk/>
            <pc:sldMk cId="0" sldId="289"/>
            <ac:picMk id="4" creationId="{00000000-0000-0000-0000-000000000000}"/>
          </ac:picMkLst>
        </pc:picChg>
        <pc:picChg chg="mod">
          <ac:chgData name="Sandro Luis de Aguiar" userId="5f462f2d5db86de8" providerId="LiveId" clId="{051BB721-46AD-48AC-AF73-0A18B443541D}" dt="2021-05-26T11:11:06.487" v="5" actId="14100"/>
          <ac:picMkLst>
            <pc:docMk/>
            <pc:sldMk cId="0" sldId="289"/>
            <ac:picMk id="9" creationId="{00000000-0000-0000-0000-000000000000}"/>
          </ac:picMkLst>
        </pc:picChg>
        <pc:picChg chg="mod">
          <ac:chgData name="Sandro Luis de Aguiar" userId="5f462f2d5db86de8" providerId="LiveId" clId="{051BB721-46AD-48AC-AF73-0A18B443541D}" dt="2021-05-26T11:10:51.365" v="1" actId="14100"/>
          <ac:picMkLst>
            <pc:docMk/>
            <pc:sldMk cId="0" sldId="289"/>
            <ac:picMk id="11" creationId="{00000000-0000-0000-0000-000000000000}"/>
          </ac:picMkLst>
        </pc:picChg>
      </pc:sldChg>
      <pc:sldChg chg="modSp mod">
        <pc:chgData name="Sandro Luis de Aguiar" userId="5f462f2d5db86de8" providerId="LiveId" clId="{051BB721-46AD-48AC-AF73-0A18B443541D}" dt="2021-05-26T11:20:22.745" v="7" actId="20577"/>
        <pc:sldMkLst>
          <pc:docMk/>
          <pc:sldMk cId="0" sldId="290"/>
        </pc:sldMkLst>
        <pc:graphicFrameChg chg="modGraphic">
          <ac:chgData name="Sandro Luis de Aguiar" userId="5f462f2d5db86de8" providerId="LiveId" clId="{051BB721-46AD-48AC-AF73-0A18B443541D}" dt="2021-05-26T11:20:22.745" v="7" actId="20577"/>
          <ac:graphicFrameMkLst>
            <pc:docMk/>
            <pc:sldMk cId="0" sldId="290"/>
            <ac:graphicFrameMk id="6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r">
              <a:defRPr sz="1300"/>
            </a:lvl1pPr>
          </a:lstStyle>
          <a:p>
            <a:fld id="{AD69835E-E365-44A3-A317-0AF5A82C8833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98102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r">
              <a:defRPr sz="1300"/>
            </a:lvl1pPr>
          </a:lstStyle>
          <a:p>
            <a:fld id="{48CAA3D6-7F93-4BCD-B22E-77184CDA31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462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r">
              <a:defRPr sz="1300"/>
            </a:lvl1pPr>
          </a:lstStyle>
          <a:p>
            <a:fld id="{AFBFAFF8-7477-440D-B130-98BCCDBBA8A0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06975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51" tIns="48276" rIns="96551" bIns="48276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182" y="4757381"/>
            <a:ext cx="5505450" cy="4506992"/>
          </a:xfrm>
          <a:prstGeom prst="rect">
            <a:avLst/>
          </a:prstGeom>
        </p:spPr>
        <p:txBody>
          <a:bodyPr vert="horz" lIns="96551" tIns="48276" rIns="96551" bIns="48276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98102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r">
              <a:defRPr sz="1300"/>
            </a:lvl1pPr>
          </a:lstStyle>
          <a:p>
            <a:fld id="{2259E5A4-B88C-4408-9B53-7A06DD51652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68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49DAEEF-DB9B-4BCF-94FC-8DC4B14F793F}" type="datetimeFigureOut">
              <a:rPr lang="pt-BR" smtClean="0"/>
              <a:pPr/>
              <a:t>26/05/2021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ariseu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560" y="3510261"/>
            <a:ext cx="3952128" cy="2262593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14282" y="357166"/>
            <a:ext cx="592935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7200" b="1" dirty="0">
                <a:ln w="10541" cmpd="sng">
                  <a:solidFill>
                    <a:srgbClr val="0F6FC6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itchFamily="18" charset="0"/>
                <a:ea typeface="+mj-ea"/>
                <a:cs typeface="+mj-cs"/>
              </a:rPr>
              <a:t>Grupos </a:t>
            </a:r>
            <a:r>
              <a:rPr lang="pt-BR" sz="4800" b="1" dirty="0">
                <a:ln w="10541" cmpd="sng">
                  <a:solidFill>
                    <a:srgbClr val="0F6FC6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itchFamily="18" charset="0"/>
                <a:ea typeface="+mj-ea"/>
                <a:cs typeface="+mj-cs"/>
              </a:rPr>
              <a:t>e</a:t>
            </a:r>
            <a:r>
              <a:rPr lang="pt-BR" sz="6600" b="1" dirty="0">
                <a:ln w="10541" cmpd="sng">
                  <a:solidFill>
                    <a:srgbClr val="0F6FC6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itchFamily="18" charset="0"/>
                <a:ea typeface="+mj-ea"/>
                <a:cs typeface="+mj-cs"/>
              </a:rPr>
              <a:t> </a:t>
            </a:r>
          </a:p>
          <a:p>
            <a:r>
              <a:rPr lang="pt-BR" sz="5400" b="1" dirty="0">
                <a:ln w="10541" cmpd="sng">
                  <a:solidFill>
                    <a:srgbClr val="0F6FC6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itchFamily="18" charset="0"/>
                <a:ea typeface="+mj-ea"/>
                <a:cs typeface="+mj-cs"/>
              </a:rPr>
              <a:t>   Movimentos </a:t>
            </a:r>
            <a:r>
              <a:rPr lang="pt-BR" sz="7200" b="1" dirty="0">
                <a:ln w="10541" cmpd="sng">
                  <a:solidFill>
                    <a:srgbClr val="0F6FC6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itchFamily="18" charset="0"/>
                <a:ea typeface="+mj-ea"/>
                <a:cs typeface="+mj-cs"/>
              </a:rPr>
              <a:t>Religiosos</a:t>
            </a:r>
            <a:endParaRPr lang="pt-BR" sz="1200" dirty="0"/>
          </a:p>
        </p:txBody>
      </p:sp>
      <p:pic>
        <p:nvPicPr>
          <p:cNvPr id="9" name="Imagem 8" descr="fariseu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6" y="4309655"/>
            <a:ext cx="3757182" cy="2262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m 10" descr="fariseu.b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84" y="182679"/>
            <a:ext cx="3286116" cy="231021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720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787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800" b="1" dirty="0">
                          <a:latin typeface="Calibri"/>
                          <a:ea typeface="Calibri"/>
                          <a:cs typeface="Times New Roman"/>
                        </a:rPr>
                        <a:t>FARISEUS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Época que existiram</a:t>
                      </a:r>
                      <a:endParaRPr lang="pt-B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Nome</a:t>
                      </a:r>
                      <a:endParaRPr lang="pt-B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Origem</a:t>
                      </a:r>
                      <a:endParaRPr lang="pt-B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Segmentos da sociedade</a:t>
                      </a:r>
                      <a:endParaRPr lang="pt-B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Convicções e atividades</a:t>
                      </a:r>
                      <a:endParaRPr lang="pt-B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5268">
                <a:tc>
                  <a:txBody>
                    <a:bodyPr/>
                    <a:lstStyle/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Surgiram sob Jônatas (160-143 a.C.)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Seu poder declinou sob João </a:t>
                      </a:r>
                      <a:r>
                        <a:rPr lang="pt-BR" sz="1800" dirty="0" err="1">
                          <a:latin typeface="Calibri"/>
                          <a:ea typeface="Calibri"/>
                          <a:cs typeface="Times New Roman"/>
                        </a:rPr>
                        <a:t>Hircano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 (134-104 a.C.)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Começaram a ressurgir sob Salomé Alexandra (76 a.C)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 “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Os separados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”, com três sentidos possíveis: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SzPts val="900"/>
                        <a:buFont typeface="+mj-lt"/>
                        <a:buAutoNum type="arabicParenR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Separavam-se das pessoas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SzPts val="900"/>
                        <a:buFont typeface="+mj-lt"/>
                        <a:buAutoNum type="arabicParenR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Separavam-se para estudar a lei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SzPts val="900"/>
                        <a:buFont typeface="+mj-lt"/>
                        <a:buAutoNum type="arabicParenR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Separavam-se das práticas pagãs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Provavelmente descendentes espirituais dos “</a:t>
                      </a:r>
                      <a:r>
                        <a:rPr lang="pt-BR" sz="1800" i="1" dirty="0" err="1">
                          <a:latin typeface="Calibri"/>
                          <a:ea typeface="Calibri"/>
                          <a:cs typeface="Times New Roman"/>
                        </a:rPr>
                        <a:t>hasidins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”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 (que lutavam pela liberdade religiosa na época de Judas Macabeus)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Eram o partido (ou seita) com mais adeptos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Escribas e estudiosos da lei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Membros da classe média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Reconheciam a autoridade de todo o  </a:t>
                      </a:r>
                      <a:r>
                        <a:rPr lang="pt-BR" sz="1800" dirty="0" err="1">
                          <a:latin typeface="Calibri"/>
                          <a:ea typeface="Calibri"/>
                          <a:cs typeface="Times New Roman"/>
                        </a:rPr>
                        <a:t>A.T.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Estavam muito atentos à guarda do Sábado, o dízimo e rituais de purificação.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Criam na vida após a morte, ressurreição, anjos e demônios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Ensinavam que o caminho para Deus era a obediência à lei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Fundavam e controlavam as sinagogas</a:t>
                      </a:r>
                    </a:p>
                    <a:p>
                      <a:pPr marL="176213" lvl="0" indent="-176213" algn="l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Tendiam a uma atitude auto-suficiente e arrogante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506895"/>
              </p:ext>
            </p:extLst>
          </p:nvPr>
        </p:nvGraphicFramePr>
        <p:xfrm>
          <a:off x="0" y="0"/>
          <a:ext cx="9144000" cy="720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8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787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800" b="1" dirty="0">
                          <a:latin typeface="Calibri"/>
                          <a:ea typeface="Calibri"/>
                          <a:cs typeface="Times New Roman"/>
                        </a:rPr>
                        <a:t>SADUCEUS</a:t>
                      </a:r>
                      <a:endParaRPr lang="pt-BR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Época que existiram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Nome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Origem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Segmentos da sociedade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Convicções e atividades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5268"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Provavelmente a partir de 200 a.C.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Desapareceram em 70 d.C. (com a destruição do templo)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Três traduções são possíveis: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SzPts val="900"/>
                        <a:buFont typeface="+mj-lt"/>
                        <a:buNone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1)“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Os justos”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 marL="111125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A raiz é a da palavra hebraica assim traduzida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SzPts val="900"/>
                        <a:buFont typeface="+mj-lt"/>
                        <a:buNone/>
                      </a:pP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2)“Os </a:t>
                      </a:r>
                      <a:r>
                        <a:rPr lang="pt-BR" sz="1800" i="1" dirty="0" err="1">
                          <a:latin typeface="Calibri"/>
                          <a:ea typeface="Calibri"/>
                          <a:cs typeface="Times New Roman"/>
                        </a:rPr>
                        <a:t>Zadoques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”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11125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Simpatizantes ou possíveis descendentes do sacerdote </a:t>
                      </a:r>
                      <a:r>
                        <a:rPr lang="pt-BR" sz="1800" dirty="0" err="1">
                          <a:latin typeface="Calibri"/>
                          <a:ea typeface="Calibri"/>
                          <a:cs typeface="Times New Roman"/>
                        </a:rPr>
                        <a:t>Zadoque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SzPts val="900"/>
                        <a:buFont typeface="+mj-lt"/>
                        <a:buNone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3)“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Juízes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” ou “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fiscais”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11125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Com base na palavra grega “</a:t>
                      </a:r>
                      <a:r>
                        <a:rPr lang="pt-BR" sz="1800" i="1" dirty="0" err="1">
                          <a:latin typeface="Calibri"/>
                          <a:ea typeface="Calibri"/>
                          <a:cs typeface="Times New Roman"/>
                        </a:rPr>
                        <a:t>sydicoi</a:t>
                      </a:r>
                      <a:r>
                        <a:rPr lang="pt-BR" sz="1800" i="1" dirty="0">
                          <a:latin typeface="Calibri"/>
                          <a:ea typeface="Calibri"/>
                          <a:cs typeface="Times New Roman"/>
                        </a:rPr>
                        <a:t>”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Desconhecida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Alegam -se descendentes de </a:t>
                      </a:r>
                      <a:r>
                        <a:rPr lang="pt-BR" sz="1800" dirty="0" err="1">
                          <a:latin typeface="Calibri"/>
                          <a:ea typeface="Calibri"/>
                          <a:cs typeface="Times New Roman"/>
                        </a:rPr>
                        <a:t>Zadoque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, o sumo sacerdote na época de Davi Salomão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É possível que tenham tido ligação com Arão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Tornaram-se partido dos sumo sacerdotes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Aristrocacia -</a:t>
                      </a:r>
                      <a:r>
                        <a:rPr lang="pt-BR" sz="1800" baseline="0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eram os descendentes ricos da linhagem do sumo sacerdote (todavia nem todos os sacerdotes eram </a:t>
                      </a:r>
                      <a:r>
                        <a:rPr lang="pt-BR" sz="1800" dirty="0" err="1">
                          <a:latin typeface="Calibri"/>
                          <a:ea typeface="Calibri"/>
                          <a:cs typeface="Times New Roman"/>
                        </a:rPr>
                        <a:t>Saduceus</a:t>
                      </a: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Possivelmente eram descendentes dos sacerdotes asmoneus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Aceitavam apenas a autoridade da </a:t>
                      </a:r>
                      <a:r>
                        <a:rPr lang="pt-BR" sz="1800" dirty="0" err="1">
                          <a:latin typeface="Calibri"/>
                          <a:ea typeface="Calibri"/>
                          <a:cs typeface="Times New Roman"/>
                        </a:rPr>
                        <a:t>Torá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Não criam na vida após a morte e nem na ressurreição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Negavam a existência de anjos e demônios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Eram materialistas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Exerciam controle político por meio do Sinédrio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Davam apoio ao poder governante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Simpatizavam com o helenismo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7858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800" b="1" dirty="0">
                          <a:latin typeface="Calibri"/>
                          <a:ea typeface="Calibri"/>
                          <a:cs typeface="Times New Roman"/>
                        </a:rPr>
                        <a:t>ZELOTES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4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Época que existiram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Nome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Origem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Segmentos da sociedade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Convicções e atividades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6987">
                <a:tc>
                  <a:txBody>
                    <a:bodyPr/>
                    <a:lstStyle/>
                    <a:p>
                      <a:pPr marL="176213" lvl="0" indent="-161925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Três possibilidades para seu surgimento:</a:t>
                      </a:r>
                    </a:p>
                    <a:p>
                      <a:pPr marL="176213" lvl="0" indent="-161925"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Durante o reinado de Herodes, o Grande (a partir de 37 a.C.)</a:t>
                      </a:r>
                    </a:p>
                    <a:p>
                      <a:pPr marL="176213" lvl="0" indent="-161925"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Durante a revolta contra Roma em 6 d.C.</a:t>
                      </a:r>
                    </a:p>
                    <a:p>
                      <a:pPr marL="176213" lvl="0" indent="-161925"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No movimento dos </a:t>
                      </a:r>
                      <a:r>
                        <a:rPr lang="pt-BR" sz="1700" i="1" dirty="0" err="1">
                          <a:latin typeface="Calibri"/>
                          <a:ea typeface="Calibri"/>
                          <a:cs typeface="Times New Roman"/>
                        </a:rPr>
                        <a:t>hasidins</a:t>
                      </a:r>
                      <a:r>
                        <a:rPr lang="pt-BR" sz="1700" i="1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ou dos Macabeus (por volta de 168 a.C.)</a:t>
                      </a:r>
                    </a:p>
                    <a:p>
                      <a:pPr marL="176213" lvl="0" indent="-161925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Sua destruição ocorreu entre 70-73 d.C. com a conquista de Jerusalém pelos romanos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" algn="ctr">
                        <a:spcAft>
                          <a:spcPts val="0"/>
                        </a:spcAft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Faz referência ao seu zelo religioso. </a:t>
                      </a:r>
                      <a:r>
                        <a:rPr lang="pt-BR" sz="1700" dirty="0" err="1">
                          <a:latin typeface="Calibri"/>
                          <a:ea typeface="Calibri"/>
                          <a:cs typeface="Times New Roman"/>
                        </a:rPr>
                        <a:t>Josefo</a:t>
                      </a: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 usou o termo para referir-se aos envolvidos na revolta judaica contra Roma em 6 d.C., liderada por Judas, o Galileu.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0955" algn="ctr">
                        <a:spcAft>
                          <a:spcPts val="0"/>
                        </a:spcAft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pt-BR" sz="1700" i="1" dirty="0">
                          <a:latin typeface="Calibri"/>
                          <a:ea typeface="Calibri"/>
                          <a:cs typeface="Times New Roman"/>
                        </a:rPr>
                        <a:t>Segundo </a:t>
                      </a:r>
                      <a:r>
                        <a:rPr lang="pt-BR" sz="1700" i="1" dirty="0" err="1">
                          <a:latin typeface="Calibri"/>
                          <a:ea typeface="Calibri"/>
                          <a:cs typeface="Times New Roman"/>
                        </a:rPr>
                        <a:t>Josefo</a:t>
                      </a: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</a:p>
                    <a:p>
                      <a:pPr marL="20955" algn="ctr">
                        <a:spcAft>
                          <a:spcPts val="0"/>
                        </a:spcAft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Os Zelotes surgiram com Judas (O Galileu), filho de </a:t>
                      </a:r>
                      <a:r>
                        <a:rPr lang="pt-BR" sz="1700" dirty="0" err="1">
                          <a:latin typeface="Calibri"/>
                          <a:ea typeface="Calibri"/>
                          <a:cs typeface="Times New Roman"/>
                        </a:rPr>
                        <a:t>Ezequias</a:t>
                      </a: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, que liderou uma revolta no ano 6 d.C. por causa de um censo feito com o propósito de cobrar impostos.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4450" algn="ctr">
                        <a:spcAft>
                          <a:spcPts val="0"/>
                        </a:spcAft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Ala extremista dos Fariseus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Semelhantes aos fariseus, com uma exceção: criam firmemente que somente Deus tinha o direito de governar os Judeus.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Criam que a obediência total precisava ser evidente antes de Deus inaugurar a era messiânica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Fanáticos a fé judaica e a lei – até ao ponto do martírio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Opunham-se extremamente aos romanos e recusavam pagar imposto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Protestavam contra o uso da língua grega na Palestina 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700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720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4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787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800" b="1" dirty="0">
                          <a:latin typeface="Calibri"/>
                          <a:ea typeface="Calibri"/>
                          <a:cs typeface="Times New Roman"/>
                        </a:rPr>
                        <a:t>HERODIANOS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Época que existiram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Nome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Origem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Segmentos da sociedade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Convicções e atividades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5268"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Existiram na época da dinastia </a:t>
                      </a:r>
                      <a:r>
                        <a:rPr lang="pt-BR" sz="2100" dirty="0" err="1">
                          <a:latin typeface="Calibri"/>
                          <a:ea typeface="Calibri"/>
                          <a:cs typeface="Times New Roman"/>
                        </a:rPr>
                        <a:t>herodiana</a:t>
                      </a: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 (que começou com Herodes, o Grande em 37 a.C.)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Fim incerto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" algn="ctr">
                        <a:spcAft>
                          <a:spcPts val="0"/>
                        </a:spcAft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Baseado em seu apoio aos governantes </a:t>
                      </a:r>
                      <a:r>
                        <a:rPr lang="pt-BR" sz="2100" dirty="0" err="1">
                          <a:latin typeface="Calibri"/>
                          <a:ea typeface="Calibri"/>
                          <a:cs typeface="Times New Roman"/>
                        </a:rPr>
                        <a:t>herodianos</a:t>
                      </a: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 (Herodes, o Grande e seus descendentes)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Origem exata incerta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Judeus ricos e influentes na política que defendiam Herodes </a:t>
                      </a:r>
                      <a:r>
                        <a:rPr lang="pt-BR" sz="2100" dirty="0" err="1">
                          <a:latin typeface="Calibri"/>
                          <a:ea typeface="Calibri"/>
                          <a:cs typeface="Times New Roman"/>
                        </a:rPr>
                        <a:t>Antipas</a:t>
                      </a: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 (e outros descendentes de Herodes, o Grade) como governantes da Palestina (Judéia e Samaria estavam sob governadores romanos na época deles)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Não eram um grupo religioso, mas político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Apoiavam Herodes e a dinastia </a:t>
                      </a:r>
                      <a:r>
                        <a:rPr lang="pt-BR" sz="2100" dirty="0" err="1">
                          <a:latin typeface="Calibri"/>
                          <a:ea typeface="Calibri"/>
                          <a:cs typeface="Times New Roman"/>
                        </a:rPr>
                        <a:t>herodiana</a:t>
                      </a:r>
                      <a:endParaRPr lang="pt-BR" sz="2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Aceitavam a helenização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2100" dirty="0">
                          <a:latin typeface="Calibri"/>
                          <a:ea typeface="Calibri"/>
                          <a:cs typeface="Times New Roman"/>
                        </a:rPr>
                        <a:t>Aceitavam o governo estrangeiro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720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4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787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800" b="1" dirty="0">
                          <a:latin typeface="Calibri"/>
                          <a:ea typeface="Calibri"/>
                          <a:cs typeface="Times New Roman"/>
                        </a:rPr>
                        <a:t>ESSÊNIO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Época que existiram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Nome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Origem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Segmentos da sociedade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Calibri"/>
                          <a:ea typeface="Calibri"/>
                          <a:cs typeface="Times New Roman"/>
                        </a:rPr>
                        <a:t>Convicções e atividades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5268"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Provavelmente surgiram na época dos Macabeus (por volta de 168 a.C.) no mesmo período dos fariseus e </a:t>
                      </a:r>
                      <a:r>
                        <a:rPr lang="pt-BR" sz="1900" dirty="0" err="1">
                          <a:latin typeface="Calibri"/>
                          <a:ea typeface="Calibri"/>
                          <a:cs typeface="Times New Roman"/>
                        </a:rPr>
                        <a:t>saduceus</a:t>
                      </a:r>
                      <a:endParaRPr lang="pt-BR" sz="19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Fim incerto. Possivelmente em 68-70 d.C. com o colapso de Jerusalém 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" algn="ctr">
                        <a:spcAft>
                          <a:spcPts val="0"/>
                        </a:spcAft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Origem incerta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Possivelmente desenvolveu-se como reação ao sacerdócio </a:t>
                      </a:r>
                      <a:r>
                        <a:rPr lang="pt-BR" sz="1900" dirty="0" err="1">
                          <a:latin typeface="Calibri"/>
                          <a:ea typeface="Calibri"/>
                          <a:cs typeface="Times New Roman"/>
                        </a:rPr>
                        <a:t>saduceu</a:t>
                      </a: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 corrupto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Pode ter identificação com os </a:t>
                      </a:r>
                      <a:r>
                        <a:rPr lang="pt-BR" sz="1900" i="1" dirty="0" err="1">
                          <a:latin typeface="Calibri"/>
                          <a:ea typeface="Calibri"/>
                          <a:cs typeface="Times New Roman"/>
                        </a:rPr>
                        <a:t>hasidins</a:t>
                      </a:r>
                      <a:r>
                        <a:rPr lang="pt-BR" sz="1900" i="1" dirty="0">
                          <a:latin typeface="Calibri"/>
                          <a:ea typeface="Calibri"/>
                          <a:cs typeface="Times New Roman"/>
                        </a:rPr>
                        <a:t> ou zelotes.</a:t>
                      </a:r>
                      <a:endParaRPr lang="pt-BR" sz="19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Dispersos pelo povoado da Judéia (possivelmente incluindo a comunidade de </a:t>
                      </a:r>
                      <a:r>
                        <a:rPr lang="pt-BR" sz="1900" dirty="0" err="1">
                          <a:latin typeface="Calibri"/>
                          <a:ea typeface="Calibri"/>
                          <a:cs typeface="Times New Roman"/>
                        </a:rPr>
                        <a:t>Qumran</a:t>
                      </a: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Eram monges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Seguiam rigidamente a lei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Criam na imortalidade da alma , sem ressurreição do corpo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Tinham orientação apocalíptica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Dedicava-se a cópias e ao estudo do manuscrito da lei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Eram altamente disciplinados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Rejeitavam os prazeres mundanos</a:t>
                      </a:r>
                    </a:p>
                    <a:p>
                      <a:pPr marL="176213" lvl="0" indent="-176213"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pt-BR" sz="1900" dirty="0">
                          <a:latin typeface="Calibri"/>
                          <a:ea typeface="Calibri"/>
                          <a:cs typeface="Times New Roman"/>
                        </a:rPr>
                        <a:t>Rejeitavam o matrimônio, mas não proibiam outros de casar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428596" y="571480"/>
            <a:ext cx="7215238" cy="11430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Schoolbook" pitchFamily="18" charset="0"/>
              </a:rPr>
              <a:t>Os rolos do mar morto foram encontrados em Cavernas perto de </a:t>
            </a:r>
            <a:r>
              <a:rPr lang="pt-B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Schoolbook" pitchFamily="18" charset="0"/>
              </a:rPr>
              <a:t>Qunrã</a:t>
            </a:r>
            <a:endParaRPr lang="pt-BR" b="1" dirty="0">
              <a:solidFill>
                <a:schemeClr val="tx1">
                  <a:lumMod val="75000"/>
                  <a:lumOff val="25000"/>
                </a:schemeClr>
              </a:solidFill>
              <a:latin typeface="Century Schoolbook" pitchFamily="18" charset="0"/>
            </a:endParaRPr>
          </a:p>
        </p:txBody>
      </p:sp>
      <p:pic>
        <p:nvPicPr>
          <p:cNvPr id="8" name="Espaço Reservado para Conteúdo 7" descr="imagesCAJR0944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929404" y="1785925"/>
            <a:ext cx="4847853" cy="32861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Espaço Reservado para Conteúdo 10" descr="imagesCALQ9IUH.jpg"/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428596" y="5072074"/>
            <a:ext cx="2965306" cy="1571612"/>
          </a:xfrm>
        </p:spPr>
      </p:pic>
      <p:pic>
        <p:nvPicPr>
          <p:cNvPr id="44034" name="Picture 2" descr="L:\fotos inter\jarro_barro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714876" y="5214950"/>
            <a:ext cx="2918946" cy="1428736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  <p:pic>
        <p:nvPicPr>
          <p:cNvPr id="7" name="Picture 2" descr="L:\fotos inter\jarro_barro.jpg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00166" y="2357430"/>
            <a:ext cx="928694" cy="2012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911</TotalTime>
  <Words>821</Words>
  <Application>Microsoft Office PowerPoint</Application>
  <PresentationFormat>Apresentação na tela (4:3)</PresentationFormat>
  <Paragraphs>110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Bookman Old Style</vt:lpstr>
      <vt:lpstr>Calibri</vt:lpstr>
      <vt:lpstr>Century Schoolbook</vt:lpstr>
      <vt:lpstr>Constantia</vt:lpstr>
      <vt:lpstr>Wingdings</vt:lpstr>
      <vt:lpstr>Wingdings 2</vt:lpstr>
      <vt:lpstr>Fluxo</vt:lpstr>
      <vt:lpstr>Balcão Envidraçado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Os rolos do mar morto foram encontrados em Cavernas perto de Qunrã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Panorama do Novo Testamento</dc:title>
  <dc:creator>WIN7</dc:creator>
  <cp:lastModifiedBy>Sandro Luis de Aguiar</cp:lastModifiedBy>
  <cp:revision>108</cp:revision>
  <dcterms:created xsi:type="dcterms:W3CDTF">2010-08-11T03:02:06Z</dcterms:created>
  <dcterms:modified xsi:type="dcterms:W3CDTF">2021-05-26T11:22:53Z</dcterms:modified>
</cp:coreProperties>
</file>