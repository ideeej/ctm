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317" r:id="rId5"/>
    <p:sldId id="264" r:id="rId6"/>
    <p:sldId id="267" r:id="rId7"/>
    <p:sldId id="318" r:id="rId8"/>
    <p:sldId id="319" r:id="rId9"/>
    <p:sldId id="268" r:id="rId10"/>
    <p:sldId id="295" r:id="rId11"/>
    <p:sldId id="279" r:id="rId12"/>
    <p:sldId id="296" r:id="rId13"/>
    <p:sldId id="280" r:id="rId14"/>
    <p:sldId id="299" r:id="rId15"/>
    <p:sldId id="316" r:id="rId16"/>
    <p:sldId id="306" r:id="rId17"/>
    <p:sldId id="315" r:id="rId18"/>
    <p:sldId id="312" r:id="rId19"/>
    <p:sldId id="313" r:id="rId20"/>
    <p:sldId id="314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9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34BFD-17EA-42FB-83CB-09470381BEEA}" type="datetimeFigureOut">
              <a:rPr lang="pt-BR" smtClean="0"/>
              <a:pPr/>
              <a:t>15/05/2018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B2C22-C955-4D9F-BE1C-92A61B5632D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PNEUMATOLOGIA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Doutrina do Espírito Santo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548680"/>
            <a:ext cx="8229600" cy="5616624"/>
          </a:xfrm>
        </p:spPr>
        <p:txBody>
          <a:bodyPr>
            <a:noAutofit/>
          </a:bodyPr>
          <a:lstStyle/>
          <a:p>
            <a:r>
              <a:rPr lang="pt-BR" sz="4000" b="1" dirty="0" smtClean="0"/>
              <a:t>O Espírito Santo é negligenciado (inferiorizado) em relação a trindade? Por quê?</a:t>
            </a:r>
          </a:p>
          <a:p>
            <a:r>
              <a:rPr lang="pt-BR" sz="4000" b="1" dirty="0" smtClean="0"/>
              <a:t>Falta conhecimento sobre a pessoa do Espírito Santo? Explique.</a:t>
            </a:r>
          </a:p>
          <a:p>
            <a:r>
              <a:rPr lang="pt-BR" sz="4000" b="1" dirty="0" smtClean="0"/>
              <a:t>Qual o esboço que você faria sobre a história do Espírito Santo na bíblia?</a:t>
            </a:r>
            <a:endParaRPr lang="pt-BR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4000" b="1" dirty="0" smtClean="0"/>
              <a:t>“Se eu fosse Satanás e meu objetivo final fosse frustrar os propósitos de Deus e seu reino, uma de minhas principais estratégias seria levar os frequentadores de igrejas a ignorar o Espírito Santo.”</a:t>
            </a:r>
          </a:p>
          <a:p>
            <a:pPr algn="ctr">
              <a:buNone/>
            </a:pPr>
            <a:r>
              <a:rPr lang="pt-BR" sz="4000" b="1" dirty="0" smtClean="0"/>
              <a:t>(Francis </a:t>
            </a:r>
            <a:r>
              <a:rPr lang="pt-BR" sz="4000" b="1" dirty="0" err="1" smtClean="0"/>
              <a:t>Chan</a:t>
            </a:r>
            <a:r>
              <a:rPr lang="pt-BR" sz="4000" b="1" dirty="0" smtClean="0"/>
              <a:t>)</a:t>
            </a:r>
            <a:endParaRPr lang="pt-BR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pt-BR" sz="4000" dirty="0" smtClean="0"/>
              <a:t>A natureza do Espírito </a:t>
            </a:r>
            <a:r>
              <a:rPr lang="pt-BR" sz="4000" dirty="0" smtClean="0"/>
              <a:t>Santo (nomes e </a:t>
            </a:r>
            <a:r>
              <a:rPr lang="pt-BR" sz="4000" dirty="0" err="1" smtClean="0"/>
              <a:t>simbolos</a:t>
            </a:r>
            <a:r>
              <a:rPr lang="pt-BR" sz="4000" dirty="0" smtClean="0"/>
              <a:t>) trabalho.</a:t>
            </a:r>
          </a:p>
          <a:p>
            <a:pPr marL="571500" indent="-571500">
              <a:buFont typeface="+mj-lt"/>
              <a:buAutoNum type="romanUcPeriod"/>
            </a:pPr>
            <a:r>
              <a:rPr lang="pt-BR" sz="4000" dirty="0" smtClean="0"/>
              <a:t>Divindade de Jesus</a:t>
            </a:r>
            <a:endParaRPr lang="pt-BR" sz="4000" dirty="0" smtClean="0"/>
          </a:p>
          <a:p>
            <a:pPr marL="571500" indent="-571500">
              <a:buFont typeface="+mj-lt"/>
              <a:buAutoNum type="romanUcPeriod"/>
            </a:pPr>
            <a:r>
              <a:rPr lang="pt-BR" sz="4000" dirty="0" smtClean="0"/>
              <a:t>O Espírito no Antigo Testamento</a:t>
            </a:r>
          </a:p>
          <a:p>
            <a:pPr marL="571500" indent="-571500">
              <a:buFont typeface="+mj-lt"/>
              <a:buAutoNum type="romanUcPeriod"/>
            </a:pPr>
            <a:r>
              <a:rPr lang="pt-BR" sz="4000" dirty="0" smtClean="0"/>
              <a:t>O </a:t>
            </a:r>
            <a:r>
              <a:rPr lang="pt-BR" sz="4000" dirty="0" smtClean="0"/>
              <a:t>Espírito </a:t>
            </a:r>
            <a:r>
              <a:rPr lang="pt-BR" sz="4000" dirty="0" smtClean="0"/>
              <a:t>no Novo testamento</a:t>
            </a:r>
            <a:endParaRPr lang="pt-BR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None/>
            </a:pPr>
            <a:r>
              <a:rPr lang="pt-BR" dirty="0" smtClean="0"/>
              <a:t>I - Século IV</a:t>
            </a:r>
          </a:p>
          <a:p>
            <a:pPr marL="571500" indent="-571500">
              <a:buNone/>
            </a:pPr>
            <a:r>
              <a:rPr lang="pt-BR" dirty="0" smtClean="0"/>
              <a:t>  - </a:t>
            </a:r>
            <a:r>
              <a:rPr lang="pt-BR" dirty="0" err="1" smtClean="0"/>
              <a:t>Pneumatômacos</a:t>
            </a:r>
            <a:r>
              <a:rPr lang="pt-BR" dirty="0" smtClean="0"/>
              <a:t> (</a:t>
            </a:r>
            <a:r>
              <a:rPr lang="pt-BR" dirty="0" err="1" smtClean="0"/>
              <a:t>Eustácio</a:t>
            </a:r>
            <a:r>
              <a:rPr lang="pt-BR" dirty="0" smtClean="0"/>
              <a:t> de </a:t>
            </a:r>
            <a:r>
              <a:rPr lang="pt-BR" dirty="0" err="1" smtClean="0"/>
              <a:t>Sebaste</a:t>
            </a:r>
            <a:r>
              <a:rPr lang="pt-BR" dirty="0" smtClean="0"/>
              <a:t>)</a:t>
            </a:r>
          </a:p>
          <a:p>
            <a:pPr marL="571500" indent="-571500">
              <a:buNone/>
            </a:pPr>
            <a:r>
              <a:rPr lang="pt-BR" dirty="0" smtClean="0"/>
              <a:t>   - Arianismo </a:t>
            </a:r>
          </a:p>
          <a:p>
            <a:pPr marL="571500" indent="-571500">
              <a:buNone/>
            </a:pPr>
            <a:r>
              <a:rPr lang="pt-BR" dirty="0" smtClean="0"/>
              <a:t>  </a:t>
            </a:r>
          </a:p>
          <a:p>
            <a:pPr marL="571500" indent="-571500">
              <a:buNone/>
            </a:pPr>
            <a:r>
              <a:rPr lang="pt-BR" dirty="0" smtClean="0"/>
              <a:t>II - Século XXI</a:t>
            </a:r>
          </a:p>
          <a:p>
            <a:pPr marL="571500" indent="-571500">
              <a:buNone/>
            </a:pPr>
            <a:r>
              <a:rPr lang="pt-BR" dirty="0" smtClean="0"/>
              <a:t> - Testemunhas de Jeová</a:t>
            </a:r>
          </a:p>
          <a:p>
            <a:pPr marL="571500" indent="-571500">
              <a:buNone/>
            </a:pPr>
            <a:r>
              <a:rPr lang="pt-BR" dirty="0" smtClean="0"/>
              <a:t> - Islamismo</a:t>
            </a:r>
          </a:p>
          <a:p>
            <a:pPr marL="571500" indent="-571500">
              <a:buNone/>
            </a:pPr>
            <a:r>
              <a:rPr lang="pt-BR" dirty="0" smtClean="0"/>
              <a:t> - Espiritismo</a:t>
            </a:r>
          </a:p>
          <a:p>
            <a:pPr marL="571500" indent="-571500">
              <a:buNone/>
            </a:pPr>
            <a:endParaRPr lang="pt-BR" dirty="0" smtClean="0"/>
          </a:p>
          <a:p>
            <a:pPr marL="571500" indent="-571500">
              <a:buNone/>
            </a:pPr>
            <a:endParaRPr lang="pt-BR" dirty="0" smtClean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Divindade negada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Divindade do Espírito Santo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indent="-857250" algn="ctr">
              <a:buFont typeface="+mj-lt"/>
              <a:buAutoNum type="romanUcPeriod"/>
            </a:pPr>
            <a:r>
              <a:rPr lang="pt-BR" sz="3600" dirty="0" smtClean="0"/>
              <a:t>Devemos notar que as várias referencias ao Espírito Santo são intercambiáveis com referencias a Deus (</a:t>
            </a:r>
            <a:r>
              <a:rPr lang="pt-BR" sz="3600" dirty="0" err="1" smtClean="0"/>
              <a:t>At</a:t>
            </a:r>
            <a:r>
              <a:rPr lang="pt-BR" sz="3600" dirty="0" smtClean="0"/>
              <a:t> 5; 1Co 3:16; 6:19).</a:t>
            </a:r>
          </a:p>
          <a:p>
            <a:pPr marL="571500" indent="-571500" algn="ctr"/>
            <a:r>
              <a:rPr lang="pt-BR" sz="3600" dirty="0" err="1" smtClean="0"/>
              <a:t>Hb</a:t>
            </a:r>
            <a:r>
              <a:rPr lang="pt-BR" sz="3600" dirty="0" smtClean="0"/>
              <a:t> 9:14; </a:t>
            </a:r>
            <a:r>
              <a:rPr lang="pt-BR" sz="3600" dirty="0" err="1" smtClean="0"/>
              <a:t>Sl</a:t>
            </a:r>
            <a:r>
              <a:rPr lang="pt-BR" sz="3600" dirty="0" smtClean="0"/>
              <a:t> 139:7-10; </a:t>
            </a:r>
            <a:r>
              <a:rPr lang="pt-BR" sz="3600" dirty="0" err="1" smtClean="0"/>
              <a:t>Lc</a:t>
            </a:r>
            <a:r>
              <a:rPr lang="pt-BR" sz="3600" dirty="0" smtClean="0"/>
              <a:t> 1:35; 1Co 2:10,11; 1Co 12:11; </a:t>
            </a:r>
            <a:r>
              <a:rPr lang="pt-BR" sz="3600" dirty="0" err="1" smtClean="0"/>
              <a:t>Ef</a:t>
            </a:r>
            <a:r>
              <a:rPr lang="pt-BR" sz="3600" dirty="0" smtClean="0"/>
              <a:t> 4:30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Atributos de personalidade do Espírito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4">
              <a:buNone/>
            </a:pPr>
            <a:r>
              <a:rPr lang="en-US" sz="4000" dirty="0" smtClean="0"/>
              <a:t>- </a:t>
            </a:r>
            <a:r>
              <a:rPr lang="en-US" sz="4000" dirty="0" err="1" smtClean="0"/>
              <a:t>Mente</a:t>
            </a:r>
            <a:r>
              <a:rPr lang="en-US" sz="4000" dirty="0" smtClean="0"/>
              <a:t>		              RM 8.27		</a:t>
            </a:r>
          </a:p>
          <a:p>
            <a:pPr lvl="4">
              <a:buNone/>
            </a:pPr>
            <a:r>
              <a:rPr lang="en-US" sz="4000" dirty="0" smtClean="0"/>
              <a:t>-</a:t>
            </a:r>
            <a:r>
              <a:rPr lang="en-US" sz="4000" dirty="0" err="1" smtClean="0"/>
              <a:t>Vontade</a:t>
            </a:r>
            <a:r>
              <a:rPr lang="en-US" sz="4000" dirty="0" smtClean="0"/>
              <a:t>		1CO 12.11	</a:t>
            </a:r>
          </a:p>
          <a:p>
            <a:pPr lvl="4">
              <a:buNone/>
            </a:pPr>
            <a:r>
              <a:rPr lang="en-US" sz="4000" dirty="0" smtClean="0"/>
              <a:t>-</a:t>
            </a:r>
            <a:r>
              <a:rPr lang="en-US" sz="4000" dirty="0" err="1" smtClean="0"/>
              <a:t>Sentimento</a:t>
            </a:r>
            <a:r>
              <a:rPr lang="en-US" sz="4000" dirty="0" smtClean="0"/>
              <a:t>		EF 4.30		</a:t>
            </a:r>
          </a:p>
          <a:p>
            <a:pPr>
              <a:buNone/>
            </a:pPr>
            <a:endParaRPr lang="pt-BR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332656"/>
            <a:ext cx="8604448" cy="6336704"/>
          </a:xfrm>
        </p:spPr>
        <p:txBody>
          <a:bodyPr>
            <a:noAutofit/>
          </a:bodyPr>
          <a:lstStyle/>
          <a:p>
            <a:pPr lvl="4"/>
            <a:r>
              <a:rPr lang="en-US" sz="2800" dirty="0" err="1" smtClean="0"/>
              <a:t>Revela</a:t>
            </a:r>
            <a:r>
              <a:rPr lang="en-US" sz="2800" dirty="0" smtClean="0"/>
              <a:t>		2PE 1.21		</a:t>
            </a:r>
          </a:p>
          <a:p>
            <a:pPr lvl="4"/>
            <a:r>
              <a:rPr lang="en-US" sz="2800" dirty="0" err="1" smtClean="0"/>
              <a:t>Ensina</a:t>
            </a:r>
            <a:r>
              <a:rPr lang="en-US" sz="2800" dirty="0" smtClean="0"/>
              <a:t>		JO 14.26	</a:t>
            </a:r>
          </a:p>
          <a:p>
            <a:pPr lvl="4"/>
            <a:r>
              <a:rPr lang="en-US" sz="2800" dirty="0" err="1" smtClean="0"/>
              <a:t>Clama</a:t>
            </a:r>
            <a:r>
              <a:rPr lang="en-US" sz="2800" dirty="0" smtClean="0"/>
              <a:t> E Intercede      GL 4.6 ; RM 8:26	</a:t>
            </a:r>
          </a:p>
          <a:p>
            <a:pPr lvl="4"/>
            <a:r>
              <a:rPr lang="en-US" sz="2800" dirty="0" err="1" smtClean="0"/>
              <a:t>Fala</a:t>
            </a:r>
            <a:r>
              <a:rPr lang="en-US" sz="2800" dirty="0" smtClean="0"/>
              <a:t>			AP 2.7		</a:t>
            </a:r>
          </a:p>
          <a:p>
            <a:pPr lvl="4"/>
            <a:r>
              <a:rPr lang="en-US" sz="2800" dirty="0" err="1" smtClean="0"/>
              <a:t>Ordena</a:t>
            </a:r>
            <a:r>
              <a:rPr lang="en-US" sz="2800" dirty="0" smtClean="0"/>
              <a:t>	AT  13.2 ; 16.6,7; 			</a:t>
            </a:r>
          </a:p>
          <a:p>
            <a:pPr lvl="4"/>
            <a:r>
              <a:rPr lang="en-US" sz="2800" dirty="0" err="1" smtClean="0"/>
              <a:t>Testifica</a:t>
            </a:r>
            <a:r>
              <a:rPr lang="en-US" sz="2800" dirty="0" smtClean="0"/>
              <a:t>		JO 15.26	 </a:t>
            </a:r>
          </a:p>
          <a:p>
            <a:pPr lvl="4"/>
            <a:r>
              <a:rPr lang="en-US" sz="2800" dirty="0" err="1" smtClean="0"/>
              <a:t>Entristeza</a:t>
            </a:r>
            <a:r>
              <a:rPr lang="en-US" sz="2800" dirty="0" smtClean="0"/>
              <a:t>		EF 4.30		</a:t>
            </a:r>
          </a:p>
          <a:p>
            <a:pPr lvl="4"/>
            <a:r>
              <a:rPr lang="en-US" sz="2400" dirty="0" smtClean="0"/>
              <a:t>Contra </a:t>
            </a:r>
            <a:r>
              <a:rPr lang="en-US" sz="2400" dirty="0" err="1" smtClean="0"/>
              <a:t>Ele</a:t>
            </a:r>
            <a:r>
              <a:rPr lang="en-US" sz="2400" dirty="0" smtClean="0"/>
              <a:t> Se </a:t>
            </a:r>
            <a:r>
              <a:rPr lang="en-US" sz="2400" dirty="0" err="1" smtClean="0"/>
              <a:t>Pode</a:t>
            </a:r>
            <a:r>
              <a:rPr lang="en-US" sz="2400" dirty="0" smtClean="0"/>
              <a:t> </a:t>
            </a:r>
            <a:r>
              <a:rPr lang="en-US" sz="2400" dirty="0" err="1" smtClean="0"/>
              <a:t>Mentir</a:t>
            </a:r>
            <a:r>
              <a:rPr lang="en-US" sz="2400" dirty="0" smtClean="0"/>
              <a:t> </a:t>
            </a:r>
            <a:r>
              <a:rPr lang="en-US" sz="2800" dirty="0" smtClean="0"/>
              <a:t>E </a:t>
            </a:r>
            <a:r>
              <a:rPr lang="en-US" sz="2800" dirty="0" err="1" smtClean="0"/>
              <a:t>Blasfemar</a:t>
            </a:r>
            <a:r>
              <a:rPr lang="en-US" dirty="0" smtClean="0"/>
              <a:t> </a:t>
            </a:r>
            <a:r>
              <a:rPr lang="en-US" sz="2800" dirty="0" smtClean="0"/>
              <a:t>		 	AT 5.3 ; MT 12.31,32 	</a:t>
            </a:r>
          </a:p>
          <a:p>
            <a:pPr lvl="4"/>
            <a:r>
              <a:rPr lang="en-US" sz="2800" dirty="0" err="1" smtClean="0"/>
              <a:t>Não</a:t>
            </a:r>
            <a:r>
              <a:rPr lang="en-US" sz="2800" dirty="0" smtClean="0"/>
              <a:t> </a:t>
            </a:r>
            <a:r>
              <a:rPr lang="en-US" sz="2800" dirty="0" err="1" smtClean="0"/>
              <a:t>Falará</a:t>
            </a:r>
            <a:r>
              <a:rPr lang="en-US" sz="2800" dirty="0" smtClean="0"/>
              <a:t> De Si </a:t>
            </a:r>
            <a:r>
              <a:rPr lang="en-US" sz="2800" dirty="0" err="1" smtClean="0"/>
              <a:t>Mesmo</a:t>
            </a:r>
            <a:r>
              <a:rPr lang="en-US" sz="2800" dirty="0" smtClean="0"/>
              <a:t> (</a:t>
            </a:r>
            <a:r>
              <a:rPr lang="en-US" sz="2800" dirty="0" err="1" smtClean="0"/>
              <a:t>Intérprete</a:t>
            </a:r>
            <a:r>
              <a:rPr lang="en-US" sz="2800" dirty="0" smtClean="0"/>
              <a:t>)          JO 16:13,14	</a:t>
            </a:r>
          </a:p>
          <a:p>
            <a:pPr>
              <a:buNone/>
            </a:pP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616530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3600" dirty="0" smtClean="0"/>
              <a:t>II. O Espírito Santo, sendo plenamente divino, deve receber a mesma honra e</a:t>
            </a:r>
          </a:p>
          <a:p>
            <a:pPr algn="ctr">
              <a:buNone/>
            </a:pPr>
            <a:r>
              <a:rPr lang="pt-BR" sz="3600" dirty="0" smtClean="0"/>
              <a:t>     respeito que dispensamos ao Pai e ao Filho.</a:t>
            </a:r>
          </a:p>
          <a:p>
            <a:pPr algn="ctr">
              <a:buNone/>
            </a:pPr>
            <a:endParaRPr lang="pt-BR" sz="3600" dirty="0" smtClean="0"/>
          </a:p>
          <a:p>
            <a:pPr algn="ctr">
              <a:buNone/>
            </a:pPr>
            <a:r>
              <a:rPr lang="pt-BR" sz="3600" dirty="0" smtClean="0"/>
              <a:t>III. O Espírito Santo é um com o Pai e o Filho. Sua obra é a expressão e a execução do que os três planejaram juntos.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>
                <a:latin typeface="Arial" pitchFamily="34" charset="0"/>
                <a:cs typeface="Arial" pitchFamily="34" charset="0"/>
              </a:rPr>
              <a:t>O Espírito Santo no Antigo Testamento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4000" dirty="0" smtClean="0">
                <a:latin typeface="Arial" pitchFamily="34" charset="0"/>
                <a:cs typeface="Arial" pitchFamily="34" charset="0"/>
              </a:rPr>
              <a:t>Qual a diferença do Espírito Santo entre o AT e NT?</a:t>
            </a:r>
          </a:p>
          <a:p>
            <a:pPr algn="ctr">
              <a:buNone/>
            </a:pPr>
            <a:endParaRPr lang="pt-BR" sz="4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4000" dirty="0" smtClean="0">
                <a:latin typeface="Arial" pitchFamily="34" charset="0"/>
                <a:cs typeface="Arial" pitchFamily="34" charset="0"/>
              </a:rPr>
              <a:t>E qual a diferença de sua operação entre o AT e o NT?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 smtClean="0">
                <a:latin typeface="Arial" pitchFamily="34" charset="0"/>
                <a:cs typeface="Arial" pitchFamily="34" charset="0"/>
              </a:rPr>
              <a:t>Cinco atividades importantes do Espírito Santo no </a:t>
            </a:r>
            <a:r>
              <a:rPr lang="pt-BR" sz="4000" b="1" dirty="0" err="1" smtClean="0">
                <a:latin typeface="Arial" pitchFamily="34" charset="0"/>
                <a:cs typeface="Arial" pitchFamily="34" charset="0"/>
              </a:rPr>
              <a:t>A.T.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>
                <a:latin typeface="Arial" pitchFamily="34" charset="0"/>
                <a:cs typeface="Arial" pitchFamily="34" charset="0"/>
              </a:rPr>
              <a:t> 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pt-BR" sz="3600" b="1" dirty="0">
                <a:latin typeface="Arial" pitchFamily="34" charset="0"/>
                <a:cs typeface="Arial" pitchFamily="34" charset="0"/>
              </a:rPr>
              <a:t>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Trabalhou na obra da criação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,  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Gn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1.2;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Jó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26.13; 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Sl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33:6.</a:t>
            </a:r>
          </a:p>
          <a:p>
            <a:pPr>
              <a:buNone/>
            </a:pP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b)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Equipou e capacitou pessoas ao serviço: Moisés, José,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Bezaleel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, Josué, etc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pt-BR" sz="3600" dirty="0" smtClean="0">
                <a:latin typeface="Arial" pitchFamily="34" charset="0"/>
                <a:cs typeface="Arial" pitchFamily="34" charset="0"/>
              </a:rPr>
              <a:t>    (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Jó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32:8; Ex 35:30-35;  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Jz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13)</a:t>
            </a: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125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c)     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Inspirou e revelou aos profetas, </a:t>
            </a:r>
          </a:p>
          <a:p>
            <a:pPr>
              <a:buNone/>
            </a:pPr>
            <a:r>
              <a:rPr lang="pt-BR" sz="36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28.25; 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Ne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9:30; 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Zc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7:12).</a:t>
            </a:r>
          </a:p>
          <a:p>
            <a:pPr>
              <a:buNone/>
            </a:pPr>
            <a:endParaRPr lang="pt-BR" sz="3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d)    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Predisse a vinda do Messias,             (Is 11.1-9).</a:t>
            </a:r>
          </a:p>
          <a:p>
            <a:pPr>
              <a:buNone/>
            </a:pPr>
            <a:endParaRPr lang="pt-BR" sz="3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e)    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Trabalhou na produção de uma vida moral, </a:t>
            </a:r>
          </a:p>
          <a:p>
            <a:pPr>
              <a:buNone/>
            </a:pPr>
            <a:r>
              <a:rPr lang="pt-BR" sz="36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Sl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51; 139).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>
                <a:latin typeface="Arial" pitchFamily="34" charset="0"/>
                <a:cs typeface="Arial" pitchFamily="34" charset="0"/>
              </a:rPr>
              <a:t>A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tividades importantes do Espírito Santo no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N.T.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pt-BR" sz="3600" b="1" dirty="0">
                <a:latin typeface="Arial" pitchFamily="34" charset="0"/>
                <a:cs typeface="Arial" pitchFamily="34" charset="0"/>
              </a:rPr>
              <a:t>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Agiu do nascimento à ressurreição de Cristo,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Lc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1.26-36;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Jo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20.22;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1.2</a:t>
            </a: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b)   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Age na Igreja, desde a sua fundação até a sua glorificação,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1-4; I Co 15.52-57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pt-BR" sz="3600" dirty="0" smtClean="0">
                <a:latin typeface="Arial" pitchFamily="34" charset="0"/>
                <a:cs typeface="Arial" pitchFamily="34" charset="0"/>
              </a:rPr>
              <a:t>Ex: Dons e Fruto</a:t>
            </a:r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>
                <a:latin typeface="Arial" pitchFamily="34" charset="0"/>
                <a:cs typeface="Arial" pitchFamily="34" charset="0"/>
              </a:rPr>
              <a:t>A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tividades importantes do Espírito Santo no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N.T.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97152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 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Agiu do nascimento à ressurreição de Cristo,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Lc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1.26-36;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Jo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20.22;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1.2.</a:t>
            </a:r>
            <a:endParaRPr lang="pt-BR" sz="3600" dirty="0">
              <a:latin typeface="Arial" pitchFamily="34" charset="0"/>
              <a:cs typeface="Arial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 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Age 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na Igreja, desde a sua fundação até a sua glorificação, </a:t>
            </a:r>
            <a:r>
              <a:rPr lang="pt-BR" sz="3600" dirty="0" err="1">
                <a:latin typeface="Arial" pitchFamily="34" charset="0"/>
                <a:cs typeface="Arial" pitchFamily="34" charset="0"/>
              </a:rPr>
              <a:t>At</a:t>
            </a:r>
            <a:r>
              <a:rPr lang="pt-BR" sz="3600" dirty="0">
                <a:latin typeface="Arial" pitchFamily="34" charset="0"/>
                <a:cs typeface="Arial" pitchFamily="34" charset="0"/>
              </a:rPr>
              <a:t> 1-4; I Co 15.52-57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 smtClean="0">
                <a:latin typeface="Arial" pitchFamily="34" charset="0"/>
                <a:cs typeface="Arial" pitchFamily="34" charset="0"/>
              </a:rPr>
              <a:t>Operou na construção do cânon bíblico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 smtClean="0">
                <a:latin typeface="Arial" pitchFamily="34" charset="0"/>
                <a:cs typeface="Arial" pitchFamily="34" charset="0"/>
              </a:rPr>
              <a:t>Age no mundo (</a:t>
            </a:r>
            <a:r>
              <a:rPr lang="pt-BR" sz="3600" dirty="0" err="1" smtClean="0">
                <a:latin typeface="Arial" pitchFamily="34" charset="0"/>
                <a:cs typeface="Arial" pitchFamily="34" charset="0"/>
              </a:rPr>
              <a:t>Jo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16:8...)</a:t>
            </a:r>
          </a:p>
          <a:p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348880"/>
            <a:ext cx="8229600" cy="1143000"/>
          </a:xfrm>
        </p:spPr>
        <p:txBody>
          <a:bodyPr/>
          <a:lstStyle/>
          <a:p>
            <a:r>
              <a:rPr lang="pt-BR" dirty="0" smtClean="0"/>
              <a:t>1Co 2:1-16;3:1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Ser cheio do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Espírito não é </a:t>
            </a:r>
            <a:r>
              <a:rPr lang="pt-BR" sz="3600" b="1" dirty="0">
                <a:latin typeface="Arial" pitchFamily="34" charset="0"/>
                <a:cs typeface="Arial" pitchFamily="34" charset="0"/>
              </a:rPr>
              <a:t>tanto uma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questão </a:t>
            </a:r>
            <a:r>
              <a:rPr lang="pt-BR" sz="3600" b="1" dirty="0">
                <a:latin typeface="Arial" pitchFamily="34" charset="0"/>
                <a:cs typeface="Arial" pitchFamily="34" charset="0"/>
              </a:rPr>
              <a:t>de obter mais do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Espírito,</a:t>
            </a:r>
            <a:endParaRPr lang="pt-BR" sz="3600" b="1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3600" b="1" dirty="0">
                <a:latin typeface="Arial" pitchFamily="34" charset="0"/>
                <a:cs typeface="Arial" pitchFamily="34" charset="0"/>
              </a:rPr>
              <a:t>mas </a:t>
            </a:r>
            <a:r>
              <a:rPr lang="pt-BR" sz="3600" b="1" dirty="0" err="1" smtClean="0">
                <a:latin typeface="Arial" pitchFamily="34" charset="0"/>
                <a:cs typeface="Arial" pitchFamily="34" charset="0"/>
              </a:rPr>
              <a:t>dEle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600" b="1" dirty="0">
                <a:latin typeface="Arial" pitchFamily="34" charset="0"/>
                <a:cs typeface="Arial" pitchFamily="34" charset="0"/>
              </a:rPr>
              <a:t>possuir uma fatia maior da nossa vida.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348880"/>
            <a:ext cx="8229600" cy="1143000"/>
          </a:xfrm>
        </p:spPr>
        <p:txBody>
          <a:bodyPr/>
          <a:lstStyle/>
          <a:p>
            <a:r>
              <a:rPr lang="pt-BR" dirty="0" smtClean="0"/>
              <a:t>Boa Leitura...</a:t>
            </a:r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3" descr="ES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427984" y="1412776"/>
            <a:ext cx="2943225" cy="4286250"/>
          </a:xfrm>
        </p:spPr>
      </p:pic>
      <p:sp>
        <p:nvSpPr>
          <p:cNvPr id="5" name="CaixaDeTexto 4"/>
          <p:cNvSpPr txBox="1"/>
          <p:nvPr/>
        </p:nvSpPr>
        <p:spPr>
          <a:xfrm>
            <a:off x="4427985" y="5903893"/>
            <a:ext cx="471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latin typeface="Arial" pitchFamily="34" charset="0"/>
                <a:cs typeface="Arial" pitchFamily="34" charset="0"/>
              </a:rPr>
              <a:t>Abraham </a:t>
            </a:r>
            <a:r>
              <a:rPr lang="pt-BR" sz="2400" b="1" dirty="0" err="1" smtClean="0">
                <a:latin typeface="Arial" pitchFamily="34" charset="0"/>
                <a:cs typeface="Arial" pitchFamily="34" charset="0"/>
              </a:rPr>
              <a:t>Kuyper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 1837-1920</a:t>
            </a:r>
            <a:endParaRPr lang="pt-BR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Espaço Reservado para Conteúdo 3" descr="ES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3568" y="1412776"/>
            <a:ext cx="3028950" cy="428625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467544" y="5877272"/>
            <a:ext cx="3731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/>
              <a:t>John </a:t>
            </a:r>
            <a:r>
              <a:rPr lang="pt-BR" sz="2800" b="1" dirty="0" err="1" smtClean="0"/>
              <a:t>Bunyan</a:t>
            </a:r>
            <a:r>
              <a:rPr lang="pt-BR" sz="2800" b="1" dirty="0" smtClean="0"/>
              <a:t> 1628-1688</a:t>
            </a:r>
            <a:endParaRPr lang="pt-B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 descr="ES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772816"/>
            <a:ext cx="3851920" cy="4464496"/>
          </a:xfrm>
        </p:spPr>
      </p:pic>
      <p:pic>
        <p:nvPicPr>
          <p:cNvPr id="6" name="Espaço Reservado para Conteúdo 3" descr="ES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1960" y="1772816"/>
            <a:ext cx="3200400" cy="4286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 descr="ES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772816"/>
            <a:ext cx="2657475" cy="4286250"/>
          </a:xfrm>
        </p:spPr>
      </p:pic>
      <p:pic>
        <p:nvPicPr>
          <p:cNvPr id="5" name="Imagem 4" descr="ES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1628800"/>
            <a:ext cx="2628900" cy="428625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491880" y="6165304"/>
            <a:ext cx="2342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Sinclair Ferguson</a:t>
            </a:r>
            <a:endParaRPr lang="pt-BR" sz="2400" b="1" dirty="0"/>
          </a:p>
        </p:txBody>
      </p:sp>
      <p:pic>
        <p:nvPicPr>
          <p:cNvPr id="7" name="Imagem 6" descr="ES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16216" y="1988840"/>
            <a:ext cx="20193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2936</TotalTime>
  <Words>340</Words>
  <Application>Microsoft Office PowerPoint</Application>
  <PresentationFormat>Apresentação na tela (4:3)</PresentationFormat>
  <Paragraphs>74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PNEUMATOLOGIA</vt:lpstr>
      <vt:lpstr>Slide 2</vt:lpstr>
      <vt:lpstr>Slide 3</vt:lpstr>
      <vt:lpstr>PLANO DE AULA</vt:lpstr>
      <vt:lpstr>Divindade negada</vt:lpstr>
      <vt:lpstr>Divindade do Espírito Santo</vt:lpstr>
      <vt:lpstr>Atributos de personalidade do Espírito</vt:lpstr>
      <vt:lpstr>Slide 8</vt:lpstr>
      <vt:lpstr>Slide 9</vt:lpstr>
      <vt:lpstr>O Espírito Santo no Antigo Testamento</vt:lpstr>
      <vt:lpstr>Cinco atividades importantes do Espírito Santo no A.T.</vt:lpstr>
      <vt:lpstr>Slide 12</vt:lpstr>
      <vt:lpstr> Atividades importantes do Espírito Santo no N.T. </vt:lpstr>
      <vt:lpstr> Atividades importantes do Espírito Santo no N.T. </vt:lpstr>
      <vt:lpstr>1Co 2:1-16;3:1</vt:lpstr>
      <vt:lpstr>Conclusão </vt:lpstr>
      <vt:lpstr>Boa Leitura...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PNEUMATOLOGIA</dc:title>
  <dc:creator>Pr Alessandro</dc:creator>
  <cp:lastModifiedBy>Pr Alessandro</cp:lastModifiedBy>
  <cp:revision>15</cp:revision>
  <dcterms:created xsi:type="dcterms:W3CDTF">2017-04-10T18:44:17Z</dcterms:created>
  <dcterms:modified xsi:type="dcterms:W3CDTF">2018-05-16T18:11:23Z</dcterms:modified>
</cp:coreProperties>
</file>