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3" r:id="rId3"/>
    <p:sldId id="264" r:id="rId4"/>
    <p:sldId id="267" r:id="rId5"/>
    <p:sldId id="268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295" r:id="rId17"/>
    <p:sldId id="279" r:id="rId18"/>
    <p:sldId id="296" r:id="rId19"/>
    <p:sldId id="299" r:id="rId2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40549A-470A-4706-8033-EED665768A1B}" v="37" dt="2019-05-09T00:03:06.5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Aguiar" userId="3aae6a8b23d53d7b" providerId="LiveId" clId="{A440549A-470A-4706-8033-EED665768A1B}"/>
    <pc:docChg chg="addSld delSld modSld">
      <pc:chgData name="Alessandro Aguiar" userId="3aae6a8b23d53d7b" providerId="LiveId" clId="{A440549A-470A-4706-8033-EED665768A1B}" dt="2019-05-09T00:03:06.575" v="36" actId="5793"/>
      <pc:docMkLst>
        <pc:docMk/>
      </pc:docMkLst>
      <pc:sldChg chg="modSp add del modAnim">
        <pc:chgData name="Alessandro Aguiar" userId="3aae6a8b23d53d7b" providerId="LiveId" clId="{A440549A-470A-4706-8033-EED665768A1B}" dt="2019-05-08T21:36:03.833" v="3" actId="20577"/>
        <pc:sldMkLst>
          <pc:docMk/>
          <pc:sldMk cId="0" sldId="295"/>
        </pc:sldMkLst>
        <pc:spChg chg="mod">
          <ac:chgData name="Alessandro Aguiar" userId="3aae6a8b23d53d7b" providerId="LiveId" clId="{A440549A-470A-4706-8033-EED665768A1B}" dt="2019-05-08T21:36:03.833" v="3" actId="20577"/>
          <ac:spMkLst>
            <pc:docMk/>
            <pc:sldMk cId="0" sldId="295"/>
            <ac:spMk id="3" creationId="{00000000-0000-0000-0000-000000000000}"/>
          </ac:spMkLst>
        </pc:spChg>
      </pc:sldChg>
      <pc:sldChg chg="modSp add">
        <pc:chgData name="Alessandro Aguiar" userId="3aae6a8b23d53d7b" providerId="LiveId" clId="{A440549A-470A-4706-8033-EED665768A1B}" dt="2019-05-09T00:03:06.575" v="36" actId="5793"/>
        <pc:sldMkLst>
          <pc:docMk/>
          <pc:sldMk cId="3833354385" sldId="317"/>
        </pc:sldMkLst>
        <pc:spChg chg="mod">
          <ac:chgData name="Alessandro Aguiar" userId="3aae6a8b23d53d7b" providerId="LiveId" clId="{A440549A-470A-4706-8033-EED665768A1B}" dt="2019-05-09T00:03:06.575" v="36" actId="5793"/>
          <ac:spMkLst>
            <pc:docMk/>
            <pc:sldMk cId="3833354385" sldId="31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08/05/2019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08/05/2019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08/05/2019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08/05/2019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08/05/2019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08/05/2019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08/05/2019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08/05/2019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08/05/2019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08/05/2019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08/05/2019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34BFD-17EA-42FB-83CB-09470381BEEA}" type="datetimeFigureOut">
              <a:rPr lang="pt-BR" smtClean="0"/>
              <a:pPr/>
              <a:t>08/05/2019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PNEUMATOLOGIA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Doutrina do Espírito Santo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AULA – Parte 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pt-BR" sz="4000" dirty="0"/>
              <a:t>A natureza do Espírito Santo.</a:t>
            </a:r>
          </a:p>
          <a:p>
            <a:pPr marL="571500" indent="-571500">
              <a:buFont typeface="+mj-lt"/>
              <a:buAutoNum type="romanUcPeriod"/>
            </a:pPr>
            <a:endParaRPr lang="pt-BR" sz="4000" dirty="0"/>
          </a:p>
          <a:p>
            <a:pPr marL="571500" indent="-571500">
              <a:buFont typeface="+mj-lt"/>
              <a:buAutoNum type="romanUcPeriod"/>
            </a:pPr>
            <a:r>
              <a:rPr lang="pt-BR" sz="4000" dirty="0"/>
              <a:t>O Espírito no Antigo Testamento.</a:t>
            </a:r>
          </a:p>
          <a:p>
            <a:pPr marL="571500" indent="-571500">
              <a:buFont typeface="+mj-lt"/>
              <a:buAutoNum type="romanUcPeriod"/>
            </a:pPr>
            <a:endParaRPr lang="pt-BR" sz="4000" dirty="0"/>
          </a:p>
          <a:p>
            <a:pPr marL="571500" indent="-571500">
              <a:buFont typeface="+mj-lt"/>
              <a:buAutoNum type="romanUcPeriod"/>
            </a:pPr>
            <a:r>
              <a:rPr lang="pt-BR" sz="4000" dirty="0"/>
              <a:t>O Espírito no Novo testamento.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85000" lnSpcReduction="20000"/>
          </a:bodyPr>
          <a:lstStyle/>
          <a:p>
            <a:pPr marL="571500" indent="-571500">
              <a:buNone/>
            </a:pPr>
            <a:r>
              <a:rPr lang="pt-BR" sz="3900" dirty="0"/>
              <a:t>I - Século IV</a:t>
            </a:r>
          </a:p>
          <a:p>
            <a:pPr marL="571500" indent="-571500">
              <a:buNone/>
            </a:pPr>
            <a:r>
              <a:rPr lang="pt-BR" sz="3900" dirty="0"/>
              <a:t>  - </a:t>
            </a:r>
            <a:r>
              <a:rPr lang="pt-BR" sz="3900" dirty="0" err="1"/>
              <a:t>Pneumatômacos</a:t>
            </a:r>
            <a:r>
              <a:rPr lang="pt-BR" sz="3900" dirty="0"/>
              <a:t> (</a:t>
            </a:r>
            <a:r>
              <a:rPr lang="pt-BR" sz="3900" dirty="0" err="1"/>
              <a:t>Eustácio</a:t>
            </a:r>
            <a:r>
              <a:rPr lang="pt-BR" sz="3900" dirty="0"/>
              <a:t> de </a:t>
            </a:r>
            <a:r>
              <a:rPr lang="pt-BR" sz="3900" dirty="0" err="1"/>
              <a:t>Sebaste</a:t>
            </a:r>
            <a:r>
              <a:rPr lang="pt-BR" sz="3900" dirty="0"/>
              <a:t>)</a:t>
            </a:r>
          </a:p>
          <a:p>
            <a:pPr marL="571500" indent="-571500">
              <a:buNone/>
            </a:pPr>
            <a:r>
              <a:rPr lang="pt-BR" sz="3900" dirty="0"/>
              <a:t>   - Arianismo </a:t>
            </a:r>
          </a:p>
          <a:p>
            <a:pPr marL="571500" indent="-571500">
              <a:buNone/>
            </a:pPr>
            <a:r>
              <a:rPr lang="pt-BR" sz="3900" dirty="0"/>
              <a:t>  </a:t>
            </a:r>
          </a:p>
          <a:p>
            <a:pPr marL="571500" indent="-571500">
              <a:buNone/>
            </a:pPr>
            <a:r>
              <a:rPr lang="pt-BR" sz="3900" dirty="0"/>
              <a:t>II - Século XXI</a:t>
            </a:r>
          </a:p>
          <a:p>
            <a:pPr marL="571500" indent="-571500">
              <a:buNone/>
            </a:pPr>
            <a:r>
              <a:rPr lang="pt-BR" sz="3900" dirty="0"/>
              <a:t>  - Testemunhas de Jeová</a:t>
            </a:r>
          </a:p>
          <a:p>
            <a:pPr marL="571500" indent="-571500">
              <a:buNone/>
            </a:pPr>
            <a:r>
              <a:rPr lang="pt-BR" sz="3900" dirty="0"/>
              <a:t>  - Islamismo</a:t>
            </a:r>
          </a:p>
          <a:p>
            <a:pPr marL="571500" indent="-571500">
              <a:buNone/>
            </a:pPr>
            <a:r>
              <a:rPr lang="pt-BR" sz="3900" dirty="0"/>
              <a:t>  - Espiritismo</a:t>
            </a:r>
          </a:p>
          <a:p>
            <a:pPr marL="571500" indent="-571500">
              <a:buNone/>
            </a:pPr>
            <a:r>
              <a:rPr lang="pt-BR" sz="3900" dirty="0"/>
              <a:t>  - Etc.</a:t>
            </a:r>
          </a:p>
          <a:p>
            <a:pPr marL="571500" indent="-571500">
              <a:buNone/>
            </a:pPr>
            <a:endParaRPr lang="pt-BR" dirty="0"/>
          </a:p>
          <a:p>
            <a:pPr marL="571500" indent="-571500">
              <a:buNone/>
            </a:pPr>
            <a:endParaRPr lang="pt-BR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Divindade negada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Divindade do Espírito Santo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57250" indent="-857250" algn="ctr">
              <a:buFont typeface="+mj-lt"/>
              <a:buAutoNum type="romanUcPeriod"/>
            </a:pPr>
            <a:r>
              <a:rPr lang="pt-BR" sz="3600" dirty="0"/>
              <a:t>Devemos notar que as várias referencias ao Espírito Santo são intercambiáveis com referencias a Deus. (</a:t>
            </a:r>
            <a:r>
              <a:rPr lang="pt-BR" sz="3600" dirty="0" err="1"/>
              <a:t>At</a:t>
            </a:r>
            <a:r>
              <a:rPr lang="pt-BR" sz="3600" dirty="0"/>
              <a:t> 5; 1Co 3:16; 6:19).</a:t>
            </a:r>
          </a:p>
          <a:p>
            <a:pPr marL="857250" indent="-857250" algn="ctr">
              <a:buNone/>
            </a:pPr>
            <a:endParaRPr lang="pt-BR" sz="3600" dirty="0"/>
          </a:p>
          <a:p>
            <a:pPr marL="571500" indent="-571500" algn="ctr"/>
            <a:r>
              <a:rPr lang="pt-BR" sz="3600" dirty="0" err="1"/>
              <a:t>Hb</a:t>
            </a:r>
            <a:r>
              <a:rPr lang="pt-BR" sz="3600" dirty="0"/>
              <a:t> 9:14; </a:t>
            </a:r>
            <a:r>
              <a:rPr lang="pt-BR" sz="3600" dirty="0" err="1"/>
              <a:t>Sl</a:t>
            </a:r>
            <a:r>
              <a:rPr lang="pt-BR" sz="3600" dirty="0"/>
              <a:t> 139:7-10; </a:t>
            </a:r>
            <a:r>
              <a:rPr lang="pt-BR" sz="3600" dirty="0" err="1"/>
              <a:t>Lc</a:t>
            </a:r>
            <a:r>
              <a:rPr lang="pt-BR" sz="3600" dirty="0"/>
              <a:t> 1:35; 1Co 2:10,11; 1Co 12:11; </a:t>
            </a:r>
            <a:r>
              <a:rPr lang="pt-BR" sz="3600" dirty="0" err="1"/>
              <a:t>Ef</a:t>
            </a:r>
            <a:r>
              <a:rPr lang="pt-BR" sz="3600" dirty="0"/>
              <a:t> 4:30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692696"/>
            <a:ext cx="8229600" cy="6165304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sz="3600" dirty="0"/>
              <a:t>II. O Espírito Santo, sendo plenamente divino, deve receber a mesma honra e</a:t>
            </a:r>
          </a:p>
          <a:p>
            <a:pPr algn="ctr">
              <a:buNone/>
            </a:pPr>
            <a:r>
              <a:rPr lang="pt-BR" sz="3600" dirty="0"/>
              <a:t>     respeito que dispensamos ao Pai e ao Filho.</a:t>
            </a:r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r>
              <a:rPr lang="pt-BR" sz="3600" dirty="0"/>
              <a:t>III. O Espírito Santo é um com o Pai e o Filho. Sua obra é a expressão e a execução do que os três planejaram juntos.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Atributos de personalidade do Espírito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4">
              <a:buNone/>
            </a:pPr>
            <a:r>
              <a:rPr lang="en-US" sz="4000" dirty="0"/>
              <a:t>- </a:t>
            </a:r>
            <a:r>
              <a:rPr lang="en-US" sz="4000" dirty="0" err="1"/>
              <a:t>Mente</a:t>
            </a:r>
            <a:r>
              <a:rPr lang="en-US" sz="4000" dirty="0"/>
              <a:t>		              RM 8.27		</a:t>
            </a:r>
          </a:p>
          <a:p>
            <a:pPr lvl="4">
              <a:buNone/>
            </a:pPr>
            <a:r>
              <a:rPr lang="en-US" sz="4000" dirty="0"/>
              <a:t>-</a:t>
            </a:r>
            <a:r>
              <a:rPr lang="en-US" sz="4000" dirty="0" err="1"/>
              <a:t>Vontade</a:t>
            </a:r>
            <a:r>
              <a:rPr lang="en-US" sz="4000" dirty="0"/>
              <a:t>		1CO 12.11	</a:t>
            </a:r>
          </a:p>
          <a:p>
            <a:pPr lvl="4">
              <a:buNone/>
            </a:pPr>
            <a:r>
              <a:rPr lang="en-US" sz="4000" dirty="0"/>
              <a:t>-</a:t>
            </a:r>
            <a:r>
              <a:rPr lang="en-US" sz="4000" dirty="0" err="1"/>
              <a:t>Sentimento</a:t>
            </a:r>
            <a:r>
              <a:rPr lang="en-US" sz="4000" dirty="0"/>
              <a:t>		EF 4.30		</a:t>
            </a:r>
          </a:p>
          <a:p>
            <a:pPr>
              <a:buNone/>
            </a:pPr>
            <a:endParaRPr lang="pt-BR" sz="5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332656"/>
            <a:ext cx="8604448" cy="6336704"/>
          </a:xfrm>
        </p:spPr>
        <p:txBody>
          <a:bodyPr>
            <a:noAutofit/>
          </a:bodyPr>
          <a:lstStyle/>
          <a:p>
            <a:pPr lvl="4"/>
            <a:r>
              <a:rPr lang="en-US" sz="2800" dirty="0" err="1"/>
              <a:t>Revela</a:t>
            </a:r>
            <a:r>
              <a:rPr lang="en-US" sz="2800" dirty="0"/>
              <a:t>		2PE 1.21		</a:t>
            </a:r>
          </a:p>
          <a:p>
            <a:pPr lvl="4"/>
            <a:r>
              <a:rPr lang="en-US" sz="2800" dirty="0" err="1"/>
              <a:t>Ensina</a:t>
            </a:r>
            <a:r>
              <a:rPr lang="en-US" sz="2800" dirty="0"/>
              <a:t>		JO 14.26	</a:t>
            </a:r>
          </a:p>
          <a:p>
            <a:pPr lvl="4"/>
            <a:r>
              <a:rPr lang="en-US" sz="2800" dirty="0" err="1"/>
              <a:t>Clama</a:t>
            </a:r>
            <a:r>
              <a:rPr lang="en-US" sz="2800" dirty="0"/>
              <a:t> E Intercede      GL 4.6 ; RM 8:26	</a:t>
            </a:r>
          </a:p>
          <a:p>
            <a:pPr lvl="4"/>
            <a:r>
              <a:rPr lang="en-US" sz="2800" dirty="0" err="1"/>
              <a:t>Fala</a:t>
            </a:r>
            <a:r>
              <a:rPr lang="en-US" sz="2800" dirty="0"/>
              <a:t>			AP 2.7		</a:t>
            </a:r>
          </a:p>
          <a:p>
            <a:pPr lvl="4"/>
            <a:r>
              <a:rPr lang="en-US" sz="2800" dirty="0" err="1"/>
              <a:t>Ordena</a:t>
            </a:r>
            <a:r>
              <a:rPr lang="en-US" sz="2800" dirty="0"/>
              <a:t>	AT  13.2 ; 16.6,7; 			</a:t>
            </a:r>
          </a:p>
          <a:p>
            <a:pPr lvl="4"/>
            <a:r>
              <a:rPr lang="en-US" sz="2800" dirty="0" err="1"/>
              <a:t>Testifica</a:t>
            </a:r>
            <a:r>
              <a:rPr lang="en-US" sz="2800" dirty="0"/>
              <a:t>		JO 15.26	 </a:t>
            </a:r>
          </a:p>
          <a:p>
            <a:pPr lvl="4"/>
            <a:r>
              <a:rPr lang="en-US" sz="2800" dirty="0" err="1"/>
              <a:t>Entristeza</a:t>
            </a:r>
            <a:r>
              <a:rPr lang="en-US" sz="2800" dirty="0"/>
              <a:t>		EF 4.30		</a:t>
            </a:r>
          </a:p>
          <a:p>
            <a:pPr lvl="4"/>
            <a:r>
              <a:rPr lang="en-US" sz="2400" dirty="0"/>
              <a:t>Contra </a:t>
            </a:r>
            <a:r>
              <a:rPr lang="en-US" sz="2400" dirty="0" err="1"/>
              <a:t>Ele</a:t>
            </a:r>
            <a:r>
              <a:rPr lang="en-US" sz="2400" dirty="0"/>
              <a:t> Se </a:t>
            </a:r>
            <a:r>
              <a:rPr lang="en-US" sz="2400" dirty="0" err="1"/>
              <a:t>Pode</a:t>
            </a:r>
            <a:r>
              <a:rPr lang="en-US" sz="2400" dirty="0"/>
              <a:t> </a:t>
            </a:r>
            <a:r>
              <a:rPr lang="en-US" sz="2400" dirty="0" err="1"/>
              <a:t>Mentir</a:t>
            </a:r>
            <a:r>
              <a:rPr lang="en-US" sz="2400" dirty="0"/>
              <a:t> </a:t>
            </a:r>
            <a:r>
              <a:rPr lang="en-US" sz="2800" dirty="0"/>
              <a:t>E </a:t>
            </a:r>
            <a:r>
              <a:rPr lang="en-US" sz="2800" dirty="0" err="1"/>
              <a:t>Blasfemar</a:t>
            </a:r>
            <a:r>
              <a:rPr lang="en-US" dirty="0"/>
              <a:t> </a:t>
            </a:r>
            <a:r>
              <a:rPr lang="en-US" sz="2800" dirty="0"/>
              <a:t>		 	AT 5.3 ; MT 12.31,32 	</a:t>
            </a:r>
          </a:p>
          <a:p>
            <a:pPr lvl="4"/>
            <a:r>
              <a:rPr lang="en-US" sz="2800" dirty="0" err="1"/>
              <a:t>Não</a:t>
            </a:r>
            <a:r>
              <a:rPr lang="en-US" sz="2800" dirty="0"/>
              <a:t> </a:t>
            </a:r>
            <a:r>
              <a:rPr lang="en-US" sz="2800" dirty="0" err="1"/>
              <a:t>Falará</a:t>
            </a:r>
            <a:r>
              <a:rPr lang="en-US" sz="2800" dirty="0"/>
              <a:t> De Si </a:t>
            </a:r>
            <a:r>
              <a:rPr lang="en-US" sz="2800" dirty="0" err="1"/>
              <a:t>Mesmo</a:t>
            </a:r>
            <a:r>
              <a:rPr lang="en-US" sz="2800" dirty="0"/>
              <a:t> (</a:t>
            </a:r>
            <a:r>
              <a:rPr lang="en-US" sz="2800" dirty="0" err="1"/>
              <a:t>Intérprete</a:t>
            </a:r>
            <a:r>
              <a:rPr lang="en-US" sz="2800" dirty="0"/>
              <a:t>)          JO 16:13,14	</a:t>
            </a:r>
          </a:p>
          <a:p>
            <a:pPr>
              <a:buNone/>
            </a:pPr>
            <a:endParaRPr lang="pt-BR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Conhecendo a Natureza do Espírito Santo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pt-BR" sz="4000" b="1" dirty="0"/>
              <a:t>Através:</a:t>
            </a:r>
          </a:p>
          <a:p>
            <a:pPr>
              <a:buNone/>
            </a:pPr>
            <a:endParaRPr lang="pt-BR" sz="4000" b="1" dirty="0"/>
          </a:p>
          <a:p>
            <a:pPr marL="857250" indent="-857250">
              <a:buFont typeface="+mj-lt"/>
              <a:buAutoNum type="romanUcPeriod"/>
            </a:pPr>
            <a:r>
              <a:rPr lang="pt-BR" sz="4000" b="1" dirty="0"/>
              <a:t>Divindade</a:t>
            </a:r>
          </a:p>
          <a:p>
            <a:pPr marL="857250" indent="-857250">
              <a:buFont typeface="+mj-lt"/>
              <a:buAutoNum type="romanUcPeriod"/>
            </a:pPr>
            <a:endParaRPr lang="pt-BR" sz="4000" b="1" dirty="0"/>
          </a:p>
          <a:p>
            <a:pPr marL="857250" indent="-857250">
              <a:buFont typeface="+mj-lt"/>
              <a:buAutoNum type="romanUcPeriod"/>
            </a:pPr>
            <a:r>
              <a:rPr lang="pt-BR" sz="4000" b="1" dirty="0"/>
              <a:t>Nomes</a:t>
            </a:r>
          </a:p>
          <a:p>
            <a:pPr marL="857250" indent="-857250">
              <a:buFont typeface="+mj-lt"/>
              <a:buAutoNum type="romanUcPeriod"/>
            </a:pPr>
            <a:endParaRPr lang="pt-BR" sz="4000" b="1" dirty="0"/>
          </a:p>
          <a:p>
            <a:pPr marL="857250" indent="-857250">
              <a:buFont typeface="+mj-lt"/>
              <a:buAutoNum type="romanUcPeriod"/>
            </a:pPr>
            <a:r>
              <a:rPr lang="pt-BR" sz="4000" b="1" dirty="0"/>
              <a:t>E símbolos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548680"/>
            <a:ext cx="8229600" cy="630932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pt-BR" sz="4000" b="1" dirty="0"/>
              <a:t>Nomes do Espírito Santo relacionados à Trindade:</a:t>
            </a:r>
          </a:p>
          <a:p>
            <a:pPr marL="514350" indent="-514350"/>
            <a:r>
              <a:rPr lang="pt-BR" sz="4000" b="1" dirty="0"/>
              <a:t>Espírito de Deus, </a:t>
            </a:r>
          </a:p>
          <a:p>
            <a:pPr lvl="3">
              <a:buNone/>
            </a:pPr>
            <a:r>
              <a:rPr lang="en-US" sz="2800" b="1" dirty="0"/>
              <a:t>- </a:t>
            </a:r>
            <a:r>
              <a:rPr lang="en-US" sz="2800" b="1" dirty="0" err="1"/>
              <a:t>Ele</a:t>
            </a:r>
            <a:r>
              <a:rPr lang="en-US" sz="2800" b="1" dirty="0"/>
              <a:t> É </a:t>
            </a:r>
            <a:r>
              <a:rPr lang="en-US" sz="2800" b="1" dirty="0" err="1"/>
              <a:t>Eterno</a:t>
            </a:r>
            <a:r>
              <a:rPr lang="en-US" sz="2800" b="1" dirty="0"/>
              <a:t>		HB 9.14	</a:t>
            </a:r>
          </a:p>
          <a:p>
            <a:pPr lvl="3">
              <a:buFont typeface="Wingdings" pitchFamily="2" charset="2"/>
              <a:buNone/>
            </a:pPr>
            <a:endParaRPr lang="en-US" sz="2800" b="1" dirty="0"/>
          </a:p>
          <a:p>
            <a:pPr lvl="3"/>
            <a:r>
              <a:rPr lang="en-US" sz="2800" b="1" dirty="0" err="1"/>
              <a:t>Ele</a:t>
            </a:r>
            <a:r>
              <a:rPr lang="en-US" sz="2800" b="1" dirty="0"/>
              <a:t> É </a:t>
            </a:r>
            <a:r>
              <a:rPr lang="en-US" sz="2800" b="1" dirty="0" err="1"/>
              <a:t>Onipresente</a:t>
            </a:r>
            <a:r>
              <a:rPr lang="en-US" sz="2800" b="1" dirty="0"/>
              <a:t>	</a:t>
            </a:r>
            <a:r>
              <a:rPr lang="en-US" sz="2800" b="1" dirty="0" err="1"/>
              <a:t>Sl</a:t>
            </a:r>
            <a:r>
              <a:rPr lang="en-US" sz="2800" b="1" dirty="0"/>
              <a:t> 139.7-10	</a:t>
            </a:r>
          </a:p>
          <a:p>
            <a:pPr lvl="3"/>
            <a:endParaRPr lang="en-US" sz="2800" b="1" dirty="0"/>
          </a:p>
          <a:p>
            <a:pPr lvl="3"/>
            <a:r>
              <a:rPr lang="en-US" sz="2800" b="1" dirty="0" err="1"/>
              <a:t>Ele</a:t>
            </a:r>
            <a:r>
              <a:rPr lang="en-US" sz="2800" b="1" dirty="0"/>
              <a:t> É </a:t>
            </a:r>
            <a:r>
              <a:rPr lang="en-US" sz="2800" b="1" dirty="0" err="1"/>
              <a:t>Onipotente</a:t>
            </a:r>
            <a:r>
              <a:rPr lang="en-US" sz="2800" b="1" dirty="0"/>
              <a:t>		</a:t>
            </a:r>
            <a:r>
              <a:rPr lang="en-US" sz="2800" b="1" dirty="0" err="1"/>
              <a:t>Lc</a:t>
            </a:r>
            <a:r>
              <a:rPr lang="en-US" sz="2800" b="1" dirty="0"/>
              <a:t> 1.35		</a:t>
            </a:r>
          </a:p>
          <a:p>
            <a:pPr lvl="3">
              <a:buFont typeface="Wingdings" pitchFamily="2" charset="2"/>
              <a:buNone/>
            </a:pPr>
            <a:endParaRPr lang="en-US" sz="2800" b="1" dirty="0"/>
          </a:p>
          <a:p>
            <a:pPr lvl="3"/>
            <a:r>
              <a:rPr lang="en-US" sz="2800" b="1" dirty="0" err="1"/>
              <a:t>Ele</a:t>
            </a:r>
            <a:r>
              <a:rPr lang="en-US" sz="2800" b="1" dirty="0"/>
              <a:t> É </a:t>
            </a:r>
            <a:r>
              <a:rPr lang="en-US" sz="2800" b="1" dirty="0" err="1"/>
              <a:t>Oniciente</a:t>
            </a:r>
            <a:r>
              <a:rPr lang="en-US" sz="2800" b="1" dirty="0"/>
              <a:t>		1 Co 2,10,11</a:t>
            </a:r>
            <a:endParaRPr lang="pt-BR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548680"/>
            <a:ext cx="8229600" cy="630932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pt-BR" sz="4000" b="1" dirty="0"/>
              <a:t>Nomes do Espírito Santo relacionados à Trindade:</a:t>
            </a:r>
          </a:p>
          <a:p>
            <a:pPr marL="514350" indent="-514350"/>
            <a:r>
              <a:rPr lang="pt-BR" sz="4000" b="1" dirty="0"/>
              <a:t>Espírito de Deus, </a:t>
            </a:r>
          </a:p>
          <a:p>
            <a:pPr marL="514350" indent="-514350"/>
            <a:r>
              <a:rPr lang="pt-BR" sz="4000" b="1" dirty="0"/>
              <a:t>Espírito do Senhor, </a:t>
            </a:r>
          </a:p>
          <a:p>
            <a:pPr marL="514350" indent="-514350"/>
            <a:r>
              <a:rPr lang="pt-BR" sz="4000" b="1" dirty="0"/>
              <a:t>Espírito de Cristo e </a:t>
            </a:r>
          </a:p>
          <a:p>
            <a:pPr marL="514350" indent="-514350"/>
            <a:r>
              <a:rPr lang="pt-BR" sz="4000" b="1" dirty="0"/>
              <a:t>Espírito de Seu Filho</a:t>
            </a:r>
          </a:p>
          <a:p>
            <a:pPr marL="514350" indent="-514350" algn="ctr">
              <a:buNone/>
            </a:pPr>
            <a:r>
              <a:rPr lang="pt-BR" dirty="0"/>
              <a:t> (</a:t>
            </a:r>
            <a:r>
              <a:rPr lang="pt-BR" dirty="0" err="1"/>
              <a:t>Gn</a:t>
            </a:r>
            <a:r>
              <a:rPr lang="pt-BR" dirty="0"/>
              <a:t> 1.2; Is 11.2; </a:t>
            </a:r>
            <a:r>
              <a:rPr lang="pt-BR" dirty="0" err="1"/>
              <a:t>Gl</a:t>
            </a:r>
            <a:r>
              <a:rPr lang="pt-BR" dirty="0"/>
              <a:t> 4.16; </a:t>
            </a:r>
            <a:r>
              <a:rPr lang="pt-BR" dirty="0" err="1"/>
              <a:t>Fp</a:t>
            </a:r>
            <a:r>
              <a:rPr lang="pt-BR" dirty="0"/>
              <a:t> 1.19; </a:t>
            </a:r>
            <a:r>
              <a:rPr lang="pt-BR" dirty="0" err="1"/>
              <a:t>At</a:t>
            </a:r>
            <a:r>
              <a:rPr lang="pt-BR" dirty="0"/>
              <a:t> 16.7;</a:t>
            </a:r>
          </a:p>
          <a:p>
            <a:pPr marL="514350" indent="-514350" algn="ctr">
              <a:buNone/>
            </a:pPr>
            <a:r>
              <a:rPr lang="pt-BR" dirty="0"/>
              <a:t>1 Co 6.11).</a:t>
            </a:r>
            <a:endParaRPr lang="pt-BR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 dirty="0"/>
              <a:t>2</a:t>
            </a:r>
            <a:r>
              <a:rPr lang="pt-BR" sz="4000" b="1" dirty="0"/>
              <a:t>. CONSOLADOR (</a:t>
            </a:r>
            <a:r>
              <a:rPr lang="pt-BR" sz="4000" b="1" dirty="0" err="1"/>
              <a:t>parácletos</a:t>
            </a:r>
            <a:r>
              <a:rPr lang="pt-BR" sz="4000" b="1" dirty="0"/>
              <a:t>) - (</a:t>
            </a:r>
            <a:r>
              <a:rPr lang="pt-BR" sz="4000" b="1" dirty="0" err="1"/>
              <a:t>Jo</a:t>
            </a:r>
            <a:r>
              <a:rPr lang="pt-BR" sz="4000" b="1" dirty="0"/>
              <a:t> 14.16)</a:t>
            </a:r>
          </a:p>
          <a:p>
            <a:pPr>
              <a:buNone/>
            </a:pPr>
            <a:r>
              <a:rPr lang="pt-BR" sz="4000" b="1" dirty="0"/>
              <a:t>3. O Espírito da Verdade - (</a:t>
            </a:r>
            <a:r>
              <a:rPr lang="pt-BR" sz="4000" b="1" dirty="0" err="1"/>
              <a:t>Jo</a:t>
            </a:r>
            <a:r>
              <a:rPr lang="pt-BR" sz="4000" b="1" dirty="0"/>
              <a:t> 14.6)</a:t>
            </a:r>
          </a:p>
          <a:p>
            <a:pPr>
              <a:buNone/>
            </a:pPr>
            <a:r>
              <a:rPr lang="pt-BR" sz="4000" b="1" dirty="0"/>
              <a:t>4. Espírito de Graça - (</a:t>
            </a:r>
            <a:r>
              <a:rPr lang="pt-BR" sz="4000" b="1" dirty="0" err="1"/>
              <a:t>Hb</a:t>
            </a:r>
            <a:r>
              <a:rPr lang="pt-BR" sz="4000" b="1" dirty="0"/>
              <a:t> 10.29 e </a:t>
            </a:r>
            <a:r>
              <a:rPr lang="pt-BR" sz="4000" b="1" dirty="0" err="1"/>
              <a:t>Zc</a:t>
            </a:r>
            <a:r>
              <a:rPr lang="pt-BR" sz="4000" b="1" dirty="0"/>
              <a:t> 12.10)</a:t>
            </a:r>
          </a:p>
          <a:p>
            <a:pPr>
              <a:buNone/>
            </a:pPr>
            <a:r>
              <a:rPr lang="pt-BR" sz="4000" b="1" dirty="0"/>
              <a:t>5. Espírito de Vida - (2 Co 5.17).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Sintese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pt-BR" i="1" dirty="0"/>
          </a:p>
          <a:p>
            <a:pPr algn="ctr">
              <a:buNone/>
            </a:pPr>
            <a:r>
              <a:rPr lang="pt-BR" sz="3600" b="1" i="1" dirty="0"/>
              <a:t>O Consolador, o Espírito da Verdade, o Espírito de Graça e Espírito de Vida são expressões que denotam a pluralidade de nomes do Espírito Santo no Texto Sagrado.</a:t>
            </a:r>
            <a:endParaRPr lang="pt-BR" sz="36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Símbolos do Espírito Santo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3600" b="1" dirty="0"/>
              <a:t>A Bíblia e os símbolos.</a:t>
            </a:r>
          </a:p>
          <a:p>
            <a:r>
              <a:rPr lang="pt-BR" sz="3600" b="1" dirty="0"/>
              <a:t>Jesus utilizou alguns símbolos.</a:t>
            </a:r>
          </a:p>
          <a:p>
            <a:endParaRPr lang="pt-BR" sz="3600" b="1" dirty="0"/>
          </a:p>
          <a:p>
            <a:pPr algn="ctr">
              <a:buNone/>
            </a:pPr>
            <a:r>
              <a:rPr lang="pt-BR" sz="4000" b="1" i="1" dirty="0"/>
              <a:t>O símbolo bíblico é uma figura cuja função é revelar uma verdade moral ou religiosa. Através do símbolo a verdade bíblica é ensinada de modo objetivo.</a:t>
            </a:r>
            <a:endParaRPr lang="pt-BR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OS SÍMBOLOS DO ESPÍRITO SANTO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pt-BR" sz="3600" b="1" dirty="0"/>
              <a:t>Fogo (</a:t>
            </a:r>
            <a:r>
              <a:rPr lang="pt-BR" sz="3600" b="1" dirty="0" err="1"/>
              <a:t>Lc</a:t>
            </a:r>
            <a:r>
              <a:rPr lang="pt-BR" sz="3600" b="1" dirty="0"/>
              <a:t> 3.16).</a:t>
            </a:r>
          </a:p>
          <a:p>
            <a:pPr marL="514350" indent="-514350">
              <a:buNone/>
            </a:pPr>
            <a:r>
              <a:rPr lang="pt-BR" sz="3600" b="1" dirty="0"/>
              <a:t>2. Água, rio e chuva (</a:t>
            </a:r>
            <a:r>
              <a:rPr lang="pt-BR" sz="3600" b="1" dirty="0" err="1"/>
              <a:t>Jo</a:t>
            </a:r>
            <a:r>
              <a:rPr lang="pt-BR" sz="3600" b="1" dirty="0"/>
              <a:t> 7.37,38; </a:t>
            </a:r>
            <a:r>
              <a:rPr lang="pt-BR" sz="3600" dirty="0"/>
              <a:t>Is 44.3</a:t>
            </a:r>
            <a:r>
              <a:rPr lang="pt-BR" sz="3600" b="1" dirty="0"/>
              <a:t>).</a:t>
            </a:r>
          </a:p>
          <a:p>
            <a:pPr marL="514350" indent="-514350">
              <a:buNone/>
            </a:pPr>
            <a:r>
              <a:rPr lang="pt-BR" sz="3600" b="1" dirty="0"/>
              <a:t>3. Selo (2 Co 1.21,22; </a:t>
            </a:r>
            <a:r>
              <a:rPr lang="pt-BR" sz="3600" b="1" dirty="0" err="1"/>
              <a:t>Ef</a:t>
            </a:r>
            <a:r>
              <a:rPr lang="pt-BR" sz="3600" b="1" dirty="0"/>
              <a:t> 1.13,</a:t>
            </a:r>
            <a:r>
              <a:rPr lang="pt-BR" sz="3600" dirty="0"/>
              <a:t>14</a:t>
            </a:r>
            <a:r>
              <a:rPr lang="pt-BR" sz="3600" b="1" dirty="0"/>
              <a:t>).</a:t>
            </a:r>
          </a:p>
          <a:p>
            <a:pPr marL="514350" indent="-514350">
              <a:buNone/>
            </a:pPr>
            <a:r>
              <a:rPr lang="pt-BR" sz="3600" b="1" dirty="0"/>
              <a:t>4. Vento (</a:t>
            </a:r>
            <a:r>
              <a:rPr lang="pt-BR" sz="3600" b="1" dirty="0" err="1"/>
              <a:t>Jo</a:t>
            </a:r>
            <a:r>
              <a:rPr lang="pt-BR" sz="3600" b="1" dirty="0"/>
              <a:t> 20:22; </a:t>
            </a:r>
            <a:r>
              <a:rPr lang="pt-BR" sz="3600" b="1" dirty="0" err="1"/>
              <a:t>Jo</a:t>
            </a:r>
            <a:r>
              <a:rPr lang="pt-BR" sz="3600" b="1" dirty="0"/>
              <a:t> 3:8)</a:t>
            </a:r>
          </a:p>
          <a:p>
            <a:pPr marL="514350" indent="-514350">
              <a:buNone/>
            </a:pPr>
            <a:r>
              <a:rPr lang="pt-BR" sz="3600" b="1" dirty="0"/>
              <a:t>5. Pomba (</a:t>
            </a:r>
            <a:r>
              <a:rPr lang="pt-BR" sz="3600" i="1" dirty="0" err="1"/>
              <a:t>Mt</a:t>
            </a:r>
            <a:r>
              <a:rPr lang="pt-BR" sz="3600" i="1" dirty="0"/>
              <a:t> 3.16; Mc 1.10; </a:t>
            </a:r>
            <a:r>
              <a:rPr lang="pt-BR" sz="3600" i="1" dirty="0" err="1"/>
              <a:t>Lc</a:t>
            </a:r>
            <a:r>
              <a:rPr lang="pt-BR" sz="3600" i="1" dirty="0"/>
              <a:t> 3.22; </a:t>
            </a:r>
            <a:r>
              <a:rPr lang="pt-BR" sz="3600" i="1" dirty="0" err="1"/>
              <a:t>Jo</a:t>
            </a:r>
            <a:r>
              <a:rPr lang="pt-BR" sz="3600" i="1" dirty="0"/>
              <a:t> 1.32</a:t>
            </a:r>
            <a:r>
              <a:rPr lang="pt-BR" sz="3600" dirty="0"/>
              <a:t>)</a:t>
            </a:r>
          </a:p>
          <a:p>
            <a:pPr marL="514350" indent="-514350">
              <a:buNone/>
            </a:pPr>
            <a:endParaRPr lang="pt-BR" sz="3600" b="1" dirty="0"/>
          </a:p>
          <a:p>
            <a:pPr marL="514350" indent="-514350">
              <a:buNone/>
            </a:pPr>
            <a:endParaRPr lang="pt-BR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AULA – Parte 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pt-BR" sz="4000" dirty="0"/>
              <a:t>A natureza do Espírito Santo. (divindade, nomes e símbolos)</a:t>
            </a:r>
          </a:p>
          <a:p>
            <a:pPr marL="0" indent="0">
              <a:buNone/>
            </a:pPr>
            <a:endParaRPr lang="pt-BR" sz="4000" dirty="0"/>
          </a:p>
          <a:p>
            <a:pPr marL="571500" indent="-571500">
              <a:buFont typeface="+mj-lt"/>
              <a:buAutoNum type="romanUcPeriod"/>
            </a:pPr>
            <a:r>
              <a:rPr lang="pt-BR" sz="4000" dirty="0"/>
              <a:t>O Espírito no Antigo Testamento.</a:t>
            </a:r>
          </a:p>
          <a:p>
            <a:pPr marL="571500" indent="-571500">
              <a:buFont typeface="+mj-lt"/>
              <a:buAutoNum type="romanUcPeriod"/>
            </a:pPr>
            <a:endParaRPr lang="pt-BR" sz="4000" dirty="0"/>
          </a:p>
          <a:p>
            <a:pPr marL="571500" indent="-571500">
              <a:buFont typeface="+mj-lt"/>
              <a:buAutoNum type="romanUcPeriod"/>
            </a:pPr>
            <a:r>
              <a:rPr lang="pt-BR" sz="4000" dirty="0"/>
              <a:t>O Espírito no Novo testamento.</a:t>
            </a:r>
          </a:p>
        </p:txBody>
      </p:sp>
    </p:spTree>
    <p:extLst>
      <p:ext uri="{BB962C8B-B14F-4D97-AF65-F5344CB8AC3E}">
        <p14:creationId xmlns:p14="http://schemas.microsoft.com/office/powerpoint/2010/main" val="383335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latin typeface="Arial" pitchFamily="34" charset="0"/>
                <a:cs typeface="Arial" pitchFamily="34" charset="0"/>
              </a:rPr>
              <a:t>O Espírito Santo no Antigo Testamento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pt-BR" sz="4000" dirty="0"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r>
              <a:rPr lang="pt-BR" sz="4000" dirty="0">
                <a:latin typeface="Arial" pitchFamily="34" charset="0"/>
                <a:cs typeface="Arial" pitchFamily="34" charset="0"/>
              </a:rPr>
              <a:t>Qual a diferença do Espírito Santo entre o AT e NT?</a:t>
            </a:r>
          </a:p>
          <a:p>
            <a:pPr algn="ctr">
              <a:buNone/>
            </a:pPr>
            <a:endParaRPr lang="pt-BR" sz="40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4000" dirty="0">
                <a:latin typeface="Arial" pitchFamily="34" charset="0"/>
                <a:cs typeface="Arial" pitchFamily="34" charset="0"/>
              </a:rPr>
              <a:t>E qual a diferença de sua operação entre o AT e o NT?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000" b="1" dirty="0">
                <a:latin typeface="Arial" pitchFamily="34" charset="0"/>
                <a:cs typeface="Arial" pitchFamily="34" charset="0"/>
              </a:rPr>
              <a:t>Cinco atividades importantes do Espírito Santo no </a:t>
            </a:r>
            <a:r>
              <a:rPr lang="pt-BR" sz="4000" b="1" dirty="0" err="1">
                <a:latin typeface="Arial" pitchFamily="34" charset="0"/>
                <a:cs typeface="Arial" pitchFamily="34" charset="0"/>
              </a:rPr>
              <a:t>A.T.</a:t>
            </a:r>
            <a:endParaRPr lang="pt-BR" sz="4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b="1" dirty="0">
                <a:latin typeface="Arial" pitchFamily="34" charset="0"/>
                <a:cs typeface="Arial" pitchFamily="34" charset="0"/>
              </a:rPr>
              <a:t> </a:t>
            </a:r>
            <a:r>
              <a:rPr lang="pt-BR" sz="3600" b="1" dirty="0">
                <a:latin typeface="Arial" pitchFamily="34" charset="0"/>
                <a:cs typeface="Arial" pitchFamily="34" charset="0"/>
              </a:rPr>
              <a:t>a)    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Trabalhou na obra da criação,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Gn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1.2;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Jó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26.13;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Sl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33:6.</a:t>
            </a:r>
          </a:p>
          <a:p>
            <a:pPr>
              <a:buNone/>
            </a:pPr>
            <a:endParaRPr lang="pt-BR" sz="36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3600" b="1" dirty="0">
                <a:latin typeface="Arial" pitchFamily="34" charset="0"/>
                <a:cs typeface="Arial" pitchFamily="34" charset="0"/>
              </a:rPr>
              <a:t>b)    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Equipou e capacitou pessoas ao serviço: Moisés, José,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Bezaleel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, Josué, etc.(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Jó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32:8; Ex 35:30-35; 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Jz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13)</a:t>
            </a:r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pt-BR" sz="3600" b="1" dirty="0">
                <a:latin typeface="Arial" pitchFamily="34" charset="0"/>
                <a:cs typeface="Arial" pitchFamily="34" charset="0"/>
              </a:rPr>
              <a:t>c)     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Inspirou e revelou aos profetas, 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At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28.25;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Ne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9:30;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Zc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7:12).</a:t>
            </a:r>
          </a:p>
          <a:p>
            <a:pPr>
              <a:buNone/>
            </a:pPr>
            <a:endParaRPr lang="pt-BR" sz="36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3600" b="1" dirty="0">
                <a:latin typeface="Arial" pitchFamily="34" charset="0"/>
                <a:cs typeface="Arial" pitchFamily="34" charset="0"/>
              </a:rPr>
              <a:t>d)    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Predisse a vinda do Messias,       Is 11.1-9.</a:t>
            </a:r>
          </a:p>
          <a:p>
            <a:pPr>
              <a:buNone/>
            </a:pPr>
            <a:endParaRPr lang="pt-BR" sz="36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3600" b="1" dirty="0">
                <a:latin typeface="Arial" pitchFamily="34" charset="0"/>
                <a:cs typeface="Arial" pitchFamily="34" charset="0"/>
              </a:rPr>
              <a:t>e)    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Trabalhou na produção de uma vida moral,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Sl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51; 139</a:t>
            </a:r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pt-BR" b="1" dirty="0"/>
            </a:br>
            <a:r>
              <a:rPr lang="pt-BR" b="1" dirty="0">
                <a:latin typeface="Arial" pitchFamily="34" charset="0"/>
                <a:cs typeface="Arial" pitchFamily="34" charset="0"/>
              </a:rPr>
              <a:t>Atividades importantes do Espírito Santo no </a:t>
            </a:r>
            <a:r>
              <a:rPr lang="pt-BR" b="1" dirty="0" err="1">
                <a:latin typeface="Arial" pitchFamily="34" charset="0"/>
                <a:cs typeface="Arial" pitchFamily="34" charset="0"/>
              </a:rPr>
              <a:t>N.T.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997152"/>
          </a:xfrm>
        </p:spPr>
        <p:txBody>
          <a:bodyPr>
            <a:normAutofit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pt-BR" sz="3600" b="1" dirty="0">
                <a:latin typeface="Arial" pitchFamily="34" charset="0"/>
                <a:cs typeface="Arial" pitchFamily="34" charset="0"/>
              </a:rPr>
              <a:t> 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Agiu do nascimento à ressurreição de Cristo,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Lc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1.26-36;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Jo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20.22;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At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1.2.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 b="1" dirty="0">
                <a:latin typeface="Arial" pitchFamily="34" charset="0"/>
                <a:cs typeface="Arial" pitchFamily="34" charset="0"/>
              </a:rPr>
              <a:t> 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Age na Igreja, desde a sua fundação até a sua glorificação,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At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1-4; I Co 15.52-57.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 dirty="0">
                <a:latin typeface="Arial" pitchFamily="34" charset="0"/>
                <a:cs typeface="Arial" pitchFamily="34" charset="0"/>
              </a:rPr>
              <a:t>Operou na construção do cânon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biblico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(2Tm 3:16; 2Pe 1:20,21)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 dirty="0">
                <a:latin typeface="Arial" pitchFamily="34" charset="0"/>
                <a:cs typeface="Arial" pitchFamily="34" charset="0"/>
              </a:rPr>
              <a:t>Age no mundo (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Jo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16:8...)</a:t>
            </a:r>
          </a:p>
          <a:p>
            <a:endParaRPr lang="pt-BR" sz="3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1586</TotalTime>
  <Words>488</Words>
  <Application>Microsoft Office PowerPoint</Application>
  <PresentationFormat>Apresentação na tela (4:3)</PresentationFormat>
  <Paragraphs>106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Arial</vt:lpstr>
      <vt:lpstr>Calibri</vt:lpstr>
      <vt:lpstr>Wingdings</vt:lpstr>
      <vt:lpstr>Tema do Office</vt:lpstr>
      <vt:lpstr>PNEUMATOLOGIA</vt:lpstr>
      <vt:lpstr>PLANO DE AULA – Parte 1</vt:lpstr>
      <vt:lpstr>Divindade negada</vt:lpstr>
      <vt:lpstr>Divindade do Espírito Santo</vt:lpstr>
      <vt:lpstr>Apresentação do PowerPoint</vt:lpstr>
      <vt:lpstr>Atributos de personalidade do Espírito</vt:lpstr>
      <vt:lpstr>Apresentação do PowerPoint</vt:lpstr>
      <vt:lpstr>Conhecendo a Natureza do Espírito Santo</vt:lpstr>
      <vt:lpstr>Apresentação do PowerPoint</vt:lpstr>
      <vt:lpstr>Apresentação do PowerPoint</vt:lpstr>
      <vt:lpstr>Apresentação do PowerPoint</vt:lpstr>
      <vt:lpstr>Sintese </vt:lpstr>
      <vt:lpstr>Símbolos do Espírito Santo</vt:lpstr>
      <vt:lpstr>OS SÍMBOLOS DO ESPÍRITO SANTO</vt:lpstr>
      <vt:lpstr>PLANO DE AULA – Parte 1</vt:lpstr>
      <vt:lpstr>O Espírito Santo no Antigo Testamento</vt:lpstr>
      <vt:lpstr>Cinco atividades importantes do Espírito Santo no A.T.</vt:lpstr>
      <vt:lpstr>Apresentação do PowerPoint</vt:lpstr>
      <vt:lpstr> Atividades importantes do Espírito Santo no N.T.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PNEUMATOLOGIA</dc:title>
  <dc:creator>Pr Alessandro</dc:creator>
  <cp:lastModifiedBy>Alessandro Aguiar</cp:lastModifiedBy>
  <cp:revision>18</cp:revision>
  <dcterms:created xsi:type="dcterms:W3CDTF">2017-04-10T18:44:17Z</dcterms:created>
  <dcterms:modified xsi:type="dcterms:W3CDTF">2019-05-09T00:03:15Z</dcterms:modified>
</cp:coreProperties>
</file>